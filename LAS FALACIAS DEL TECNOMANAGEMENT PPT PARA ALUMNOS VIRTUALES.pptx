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2" r:id="rId4"/>
    <p:sldId id="266" r:id="rId5"/>
    <p:sldId id="268" r:id="rId6"/>
    <p:sldId id="269" r:id="rId7"/>
    <p:sldId id="274" r:id="rId8"/>
    <p:sldId id="276" r:id="rId9"/>
    <p:sldId id="280" r:id="rId10"/>
    <p:sldId id="283" r:id="rId11"/>
    <p:sldId id="286" r:id="rId12"/>
    <p:sldId id="290" r:id="rId13"/>
    <p:sldId id="291" r:id="rId14"/>
    <p:sldId id="292" r:id="rId15"/>
    <p:sldId id="294" r:id="rId16"/>
    <p:sldId id="295" r:id="rId17"/>
    <p:sldId id="297" r:id="rId18"/>
    <p:sldId id="300" r:id="rId19"/>
    <p:sldId id="301" r:id="rId20"/>
    <p:sldId id="302" r:id="rId21"/>
    <p:sldId id="304" r:id="rId22"/>
    <p:sldId id="305" r:id="rId23"/>
    <p:sldId id="307" r:id="rId24"/>
    <p:sldId id="310" r:id="rId25"/>
    <p:sldId id="311" r:id="rId26"/>
    <p:sldId id="313" r:id="rId27"/>
    <p:sldId id="316" r:id="rId28"/>
    <p:sldId id="320" r:id="rId29"/>
    <p:sldId id="322" r:id="rId30"/>
    <p:sldId id="323" r:id="rId3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2" d="100"/>
          <a:sy n="72" d="100"/>
        </p:scale>
        <p:origin x="-1500" y="-4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972397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1859994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4130782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1808376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2147832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2285331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1239007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1859889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2943905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1170464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3C118D1C-5810-4FD2-99E6-FFF188357B92}" type="datetimeFigureOut">
              <a:rPr lang="es-ES" smtClean="0"/>
              <a:t>26/05/2017</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FBD6E2D6-A811-4B89-9C92-2E91AC54BBD6}" type="slidenum">
              <a:rPr lang="es-ES" smtClean="0"/>
              <a:t>‹Nº›</a:t>
            </a:fld>
            <a:endParaRPr lang="es-ES"/>
          </a:p>
        </p:txBody>
      </p:sp>
    </p:spTree>
    <p:extLst>
      <p:ext uri="{BB962C8B-B14F-4D97-AF65-F5344CB8AC3E}">
        <p14:creationId xmlns:p14="http://schemas.microsoft.com/office/powerpoint/2010/main" val="2495103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118D1C-5810-4FD2-99E6-FFF188357B92}" type="datetimeFigureOut">
              <a:rPr lang="es-ES" smtClean="0"/>
              <a:t>26/05/2017</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6E2D6-A811-4B89-9C92-2E91AC54BBD6}" type="slidenum">
              <a:rPr lang="es-ES" smtClean="0"/>
              <a:t>‹Nº›</a:t>
            </a:fld>
            <a:endParaRPr lang="es-ES"/>
          </a:p>
        </p:txBody>
      </p:sp>
    </p:spTree>
    <p:extLst>
      <p:ext uri="{BB962C8B-B14F-4D97-AF65-F5344CB8AC3E}">
        <p14:creationId xmlns:p14="http://schemas.microsoft.com/office/powerpoint/2010/main" val="255859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Autofit/>
          </a:bodyPr>
          <a:lstStyle/>
          <a:p>
            <a:r>
              <a:rPr lang="es-ES" sz="5400" b="1" dirty="0" smtClean="0"/>
              <a:t>LAS FALACIAS DEL TECNOMANAGEMENT</a:t>
            </a:r>
            <a:endParaRPr lang="es-ES" sz="5400" b="1" dirty="0"/>
          </a:p>
        </p:txBody>
      </p:sp>
    </p:spTree>
    <p:extLst>
      <p:ext uri="{BB962C8B-B14F-4D97-AF65-F5344CB8AC3E}">
        <p14:creationId xmlns:p14="http://schemas.microsoft.com/office/powerpoint/2010/main" val="4122991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803845"/>
            <a:ext cx="8229600" cy="5577483"/>
          </a:xfrm>
        </p:spPr>
        <p:txBody>
          <a:bodyPr>
            <a:normAutofit/>
          </a:bodyPr>
          <a:lstStyle/>
          <a:p>
            <a:pPr marL="0" indent="0" algn="ctr">
              <a:buNone/>
            </a:pPr>
            <a:r>
              <a:rPr lang="es-ES" sz="3600" dirty="0" smtClean="0"/>
              <a:t>Las empresas y organizaciones están enfermas porque su principal factor de crecimiento, generador de variedad creativa y riqueza emocional –el personal- está encorsetado en una estructura que venera el talento pero en realidad lo ahoga. Todo por una dieta rica en dividendos corporativos a corto plazo que implican anorexia a largo plazo.</a:t>
            </a:r>
            <a:endParaRPr lang="es-ES" sz="3600" dirty="0"/>
          </a:p>
        </p:txBody>
      </p:sp>
    </p:spTree>
    <p:extLst>
      <p:ext uri="{BB962C8B-B14F-4D97-AF65-F5344CB8AC3E}">
        <p14:creationId xmlns:p14="http://schemas.microsoft.com/office/powerpoint/2010/main" val="994713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Silogismos del tecnomanagement:</a:t>
            </a:r>
            <a:endParaRPr lang="es-ES" dirty="0"/>
          </a:p>
        </p:txBody>
      </p:sp>
      <p:sp>
        <p:nvSpPr>
          <p:cNvPr id="3" name="2 Marcador de contenido"/>
          <p:cNvSpPr>
            <a:spLocks noGrp="1"/>
          </p:cNvSpPr>
          <p:nvPr>
            <p:ph idx="1"/>
          </p:nvPr>
        </p:nvSpPr>
        <p:spPr/>
        <p:txBody>
          <a:bodyPr>
            <a:normAutofit fontScale="92500" lnSpcReduction="10000"/>
          </a:bodyPr>
          <a:lstStyle/>
          <a:p>
            <a:pPr algn="just">
              <a:lnSpc>
                <a:spcPct val="150000"/>
              </a:lnSpc>
              <a:spcAft>
                <a:spcPts val="1000"/>
              </a:spcAft>
              <a:buFont typeface="Wingdings" pitchFamily="2" charset="2"/>
              <a:buChar char="q"/>
            </a:pPr>
            <a:r>
              <a:rPr lang="es-AR" b="1" dirty="0" smtClean="0">
                <a:ea typeface="Calibri"/>
                <a:cs typeface="Times New Roman"/>
              </a:rPr>
              <a:t> El </a:t>
            </a:r>
            <a:r>
              <a:rPr lang="es-AR" b="1" dirty="0">
                <a:ea typeface="Calibri"/>
                <a:cs typeface="Times New Roman"/>
              </a:rPr>
              <a:t>ser humano es subjetivo e irracional</a:t>
            </a:r>
            <a:endParaRPr lang="es-ES" dirty="0">
              <a:ea typeface="Calibri"/>
              <a:cs typeface="Times New Roman"/>
            </a:endParaRPr>
          </a:p>
          <a:p>
            <a:pPr algn="just">
              <a:lnSpc>
                <a:spcPct val="150000"/>
              </a:lnSpc>
              <a:spcAft>
                <a:spcPts val="1000"/>
              </a:spcAft>
              <a:buFont typeface="Wingdings" pitchFamily="2" charset="2"/>
              <a:buChar char="q"/>
            </a:pPr>
            <a:r>
              <a:rPr lang="es-AR" b="1" dirty="0" smtClean="0">
                <a:ea typeface="Calibri"/>
                <a:cs typeface="Times New Roman"/>
              </a:rPr>
              <a:t> Los </a:t>
            </a:r>
            <a:r>
              <a:rPr lang="es-AR" b="1" dirty="0">
                <a:ea typeface="Calibri"/>
                <a:cs typeface="Times New Roman"/>
              </a:rPr>
              <a:t>números son objetivos y racionales</a:t>
            </a:r>
            <a:endParaRPr lang="es-ES" dirty="0">
              <a:ea typeface="Calibri"/>
              <a:cs typeface="Times New Roman"/>
            </a:endParaRPr>
          </a:p>
          <a:p>
            <a:pPr>
              <a:buFont typeface="Wingdings" pitchFamily="2" charset="2"/>
              <a:buChar char="q"/>
            </a:pPr>
            <a:r>
              <a:rPr lang="es-AR" b="1" dirty="0" smtClean="0">
                <a:ea typeface="Calibri"/>
                <a:cs typeface="Times New Roman"/>
              </a:rPr>
              <a:t> Los </a:t>
            </a:r>
            <a:r>
              <a:rPr lang="es-AR" b="1" dirty="0">
                <a:ea typeface="Calibri"/>
                <a:cs typeface="Times New Roman"/>
              </a:rPr>
              <a:t>seres humanos convertidos a números se </a:t>
            </a:r>
            <a:r>
              <a:rPr lang="es-AR" b="1" dirty="0" smtClean="0">
                <a:ea typeface="Calibri"/>
                <a:cs typeface="Times New Roman"/>
              </a:rPr>
              <a:t>  convierten </a:t>
            </a:r>
            <a:r>
              <a:rPr lang="es-AR" b="1" dirty="0">
                <a:ea typeface="Calibri"/>
                <a:cs typeface="Times New Roman"/>
              </a:rPr>
              <a:t>en objetivos y racionales</a:t>
            </a:r>
            <a:r>
              <a:rPr lang="es-AR" b="1" dirty="0" smtClean="0">
                <a:ea typeface="Calibri"/>
                <a:cs typeface="Times New Roman"/>
              </a:rPr>
              <a:t>.</a:t>
            </a:r>
          </a:p>
          <a:p>
            <a:pPr marL="0" indent="0">
              <a:buNone/>
            </a:pPr>
            <a:endParaRPr lang="es-AR" b="1" dirty="0">
              <a:cs typeface="Times New Roman"/>
            </a:endParaRPr>
          </a:p>
          <a:p>
            <a:pPr marL="0" indent="0">
              <a:buNone/>
            </a:pPr>
            <a:r>
              <a:rPr lang="es-ES" sz="2800" dirty="0" smtClean="0"/>
              <a:t>Es plantear una Dirección de Personas tecnocrática, olvidando totalmente que los seres humanos son… humanos. </a:t>
            </a:r>
            <a:endParaRPr lang="es-ES" sz="2800" dirty="0"/>
          </a:p>
        </p:txBody>
      </p:sp>
    </p:spTree>
    <p:extLst>
      <p:ext uri="{BB962C8B-B14F-4D97-AF65-F5344CB8AC3E}">
        <p14:creationId xmlns:p14="http://schemas.microsoft.com/office/powerpoint/2010/main" val="151902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91877"/>
            <a:ext cx="8229600" cy="5361459"/>
          </a:xfrm>
        </p:spPr>
        <p:txBody>
          <a:bodyPr>
            <a:noAutofit/>
          </a:bodyPr>
          <a:lstStyle/>
          <a:p>
            <a:pPr marL="0" indent="0" algn="ctr">
              <a:buNone/>
            </a:pPr>
            <a:r>
              <a:rPr lang="es-ES" sz="3000" b="1" dirty="0" smtClean="0">
                <a:latin typeface="Courier New" pitchFamily="49" charset="0"/>
                <a:cs typeface="Courier New" pitchFamily="49" charset="0"/>
              </a:rPr>
              <a:t>EL TECNOMANAGEMENT TIENE APARIENCIA DE CIENTIFICO, CONVIERTE TODO A NUMEROS, QUE LE DA SABOR DE OBJETIVIDAD, PERO DETRÁS DE LA APARENTE RACIONALIDAD, HAY DISCURSOS DOCTRINARIOS PERENTORIOS QUE LEVANTAN EN SUS DEFENSORES PASIONES EMOCIONALES Y UN RECHAZO A REPLANTEAR EL DOGMA EN UNA ACTITUD MAS TEOLÓGICA QUE CIENTÍFICA.</a:t>
            </a:r>
            <a:endParaRPr lang="es-ES" sz="3000" b="1" dirty="0">
              <a:latin typeface="Courier New" pitchFamily="49" charset="0"/>
              <a:cs typeface="Courier New" pitchFamily="49" charset="0"/>
            </a:endParaRPr>
          </a:p>
        </p:txBody>
      </p:sp>
    </p:spTree>
    <p:extLst>
      <p:ext uri="{BB962C8B-B14F-4D97-AF65-F5344CB8AC3E}">
        <p14:creationId xmlns:p14="http://schemas.microsoft.com/office/powerpoint/2010/main" val="2561985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692696"/>
            <a:ext cx="7772400" cy="1470025"/>
          </a:xfrm>
        </p:spPr>
        <p:txBody>
          <a:bodyPr>
            <a:normAutofit/>
          </a:bodyPr>
          <a:lstStyle/>
          <a:p>
            <a:r>
              <a:rPr lang="es-ES" sz="8000" b="1" dirty="0" smtClean="0"/>
              <a:t>FALACIA 1</a:t>
            </a:r>
            <a:endParaRPr lang="es-ES" sz="8000" b="1" dirty="0"/>
          </a:p>
        </p:txBody>
      </p:sp>
      <p:sp>
        <p:nvSpPr>
          <p:cNvPr id="3" name="2 Subtítulo"/>
          <p:cNvSpPr>
            <a:spLocks noGrp="1"/>
          </p:cNvSpPr>
          <p:nvPr>
            <p:ph type="subTitle" idx="1"/>
          </p:nvPr>
        </p:nvSpPr>
        <p:spPr>
          <a:xfrm>
            <a:off x="827584" y="3886200"/>
            <a:ext cx="7704856" cy="1752600"/>
          </a:xfrm>
        </p:spPr>
        <p:txBody>
          <a:bodyPr/>
          <a:lstStyle/>
          <a:p>
            <a:pPr algn="l"/>
            <a:r>
              <a:rPr lang="es-ES" b="1" dirty="0" smtClean="0">
                <a:solidFill>
                  <a:schemeClr val="tx1"/>
                </a:solidFill>
              </a:rPr>
              <a:t>	EL HOMBRE ES UN (SIMPLE) ANIMAL</a:t>
            </a:r>
            <a:endParaRPr lang="es-ES" b="1" dirty="0">
              <a:solidFill>
                <a:schemeClr val="tx1"/>
              </a:solidFill>
            </a:endParaRPr>
          </a:p>
        </p:txBody>
      </p:sp>
    </p:spTree>
    <p:extLst>
      <p:ext uri="{BB962C8B-B14F-4D97-AF65-F5344CB8AC3E}">
        <p14:creationId xmlns:p14="http://schemas.microsoft.com/office/powerpoint/2010/main" val="85142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92696"/>
            <a:ext cx="8229600" cy="5433467"/>
          </a:xfrm>
        </p:spPr>
        <p:txBody>
          <a:bodyPr/>
          <a:lstStyle/>
          <a:p>
            <a:pPr marL="0" indent="0" algn="ctr">
              <a:buNone/>
            </a:pPr>
            <a:r>
              <a:rPr lang="es-ES" sz="4800" b="1" dirty="0" smtClean="0"/>
              <a:t>ERROR: </a:t>
            </a:r>
          </a:p>
          <a:p>
            <a:pPr marL="0" indent="0">
              <a:buNone/>
            </a:pPr>
            <a:endParaRPr lang="es-ES" dirty="0" smtClean="0"/>
          </a:p>
          <a:p>
            <a:pPr marL="0" indent="0">
              <a:buNone/>
            </a:pPr>
            <a:r>
              <a:rPr lang="es-ES" dirty="0" smtClean="0"/>
              <a:t>EL HOMBRE </a:t>
            </a:r>
            <a:r>
              <a:rPr lang="es-ES" b="1" dirty="0" smtClean="0"/>
              <a:t>NO</a:t>
            </a:r>
            <a:r>
              <a:rPr lang="es-ES" dirty="0" smtClean="0"/>
              <a:t> ES UN SIMPLE ANIMAL. </a:t>
            </a:r>
          </a:p>
          <a:p>
            <a:pPr marL="0" indent="0">
              <a:buNone/>
            </a:pPr>
            <a:r>
              <a:rPr lang="es-ES" dirty="0" smtClean="0"/>
              <a:t>PERO SKINNER DECÍA QUE ANTE UN MISMO ESTÍMULO, LAS RANAS, LAS RATAS, LAS TORTUGAS Y LOS SERES HUMANOS TENDRÁN EL MISMO TIPO DE RESPUESTA (TEORÍAS CONDUCTISTAS). </a:t>
            </a:r>
            <a:endParaRPr lang="es-ES" dirty="0"/>
          </a:p>
        </p:txBody>
      </p:sp>
    </p:spTree>
    <p:extLst>
      <p:ext uri="{BB962C8B-B14F-4D97-AF65-F5344CB8AC3E}">
        <p14:creationId xmlns:p14="http://schemas.microsoft.com/office/powerpoint/2010/main" val="3870368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620688"/>
            <a:ext cx="7772400" cy="1470025"/>
          </a:xfrm>
        </p:spPr>
        <p:txBody>
          <a:bodyPr>
            <a:normAutofit/>
          </a:bodyPr>
          <a:lstStyle/>
          <a:p>
            <a:r>
              <a:rPr lang="es-ES" sz="8000" b="1" dirty="0" smtClean="0"/>
              <a:t>FALACIA 2</a:t>
            </a:r>
            <a:endParaRPr lang="es-ES" sz="8000" b="1" dirty="0"/>
          </a:p>
        </p:txBody>
      </p:sp>
      <p:sp>
        <p:nvSpPr>
          <p:cNvPr id="3" name="2 Subtítulo"/>
          <p:cNvSpPr>
            <a:spLocks noGrp="1"/>
          </p:cNvSpPr>
          <p:nvPr>
            <p:ph type="subTitle" idx="1"/>
          </p:nvPr>
        </p:nvSpPr>
        <p:spPr>
          <a:xfrm>
            <a:off x="1371600" y="3739480"/>
            <a:ext cx="6400800" cy="1777752"/>
          </a:xfrm>
        </p:spPr>
        <p:txBody>
          <a:bodyPr/>
          <a:lstStyle/>
          <a:p>
            <a:r>
              <a:rPr lang="es-ES" b="1" dirty="0" smtClean="0">
                <a:solidFill>
                  <a:schemeClr val="tx1"/>
                </a:solidFill>
              </a:rPr>
              <a:t>LO QUE NO SE PUEDE MEDIR NO SE PUEDE CONTROLAR.</a:t>
            </a:r>
            <a:endParaRPr lang="es-ES" b="1" dirty="0">
              <a:solidFill>
                <a:schemeClr val="tx1"/>
              </a:solidFill>
            </a:endParaRPr>
          </a:p>
        </p:txBody>
      </p:sp>
    </p:spTree>
    <p:extLst>
      <p:ext uri="{BB962C8B-B14F-4D97-AF65-F5344CB8AC3E}">
        <p14:creationId xmlns:p14="http://schemas.microsoft.com/office/powerpoint/2010/main" val="2055094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764704"/>
            <a:ext cx="8229600" cy="5361459"/>
          </a:xfrm>
        </p:spPr>
        <p:txBody>
          <a:bodyPr>
            <a:normAutofit/>
          </a:bodyPr>
          <a:lstStyle/>
          <a:p>
            <a:pPr marL="0" indent="0" algn="ctr">
              <a:buNone/>
            </a:pPr>
            <a:r>
              <a:rPr lang="es-ES" sz="4000" dirty="0" smtClean="0"/>
              <a:t>EL TECNOMANAGMENT ADOPTA SISTEMAS DE MEDICIÓN Y CALCULO PARA TODO LO REFERENTE AL COMPONENTE HUMANO EN LAS ORGANIZACIONES Y PIDE Y CONSIGUE QUE SE ADOPTEN SUS DECLARACIONES COMO VERDADES INDISCUTIBLES.</a:t>
            </a:r>
            <a:endParaRPr lang="es-ES" sz="4000" dirty="0"/>
          </a:p>
        </p:txBody>
      </p:sp>
    </p:spTree>
    <p:extLst>
      <p:ext uri="{BB962C8B-B14F-4D97-AF65-F5344CB8AC3E}">
        <p14:creationId xmlns:p14="http://schemas.microsoft.com/office/powerpoint/2010/main" val="1746143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980728"/>
            <a:ext cx="7772400" cy="1539602"/>
          </a:xfrm>
        </p:spPr>
        <p:txBody>
          <a:bodyPr>
            <a:normAutofit/>
          </a:bodyPr>
          <a:lstStyle/>
          <a:p>
            <a:r>
              <a:rPr lang="es-ES" sz="8000" b="1" dirty="0" smtClean="0"/>
              <a:t>FALACIA 3</a:t>
            </a:r>
            <a:endParaRPr lang="es-ES" sz="8000" b="1" dirty="0"/>
          </a:p>
        </p:txBody>
      </p:sp>
      <p:sp>
        <p:nvSpPr>
          <p:cNvPr id="3" name="2 Subtítulo"/>
          <p:cNvSpPr>
            <a:spLocks noGrp="1"/>
          </p:cNvSpPr>
          <p:nvPr>
            <p:ph type="subTitle" idx="1"/>
          </p:nvPr>
        </p:nvSpPr>
        <p:spPr/>
        <p:txBody>
          <a:bodyPr/>
          <a:lstStyle/>
          <a:p>
            <a:r>
              <a:rPr lang="es-ES" b="1" dirty="0" smtClean="0">
                <a:solidFill>
                  <a:schemeClr val="tx1"/>
                </a:solidFill>
              </a:rPr>
              <a:t>ILUSIONES COGNITIVAS.</a:t>
            </a:r>
            <a:endParaRPr lang="es-ES" b="1" dirty="0">
              <a:solidFill>
                <a:schemeClr val="tx1"/>
              </a:solidFill>
            </a:endParaRPr>
          </a:p>
        </p:txBody>
      </p:sp>
    </p:spTree>
    <p:extLst>
      <p:ext uri="{BB962C8B-B14F-4D97-AF65-F5344CB8AC3E}">
        <p14:creationId xmlns:p14="http://schemas.microsoft.com/office/powerpoint/2010/main" val="3678663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80729"/>
            <a:ext cx="8229600" cy="4896544"/>
          </a:xfrm>
        </p:spPr>
        <p:txBody>
          <a:bodyPr>
            <a:noAutofit/>
          </a:bodyPr>
          <a:lstStyle/>
          <a:p>
            <a:pPr marL="0" indent="0" algn="ctr">
              <a:buNone/>
            </a:pPr>
            <a:r>
              <a:rPr lang="es-ES" sz="3600" dirty="0" smtClean="0"/>
              <a:t>PARECE NATURAL QUE UN MANAGER QUE SE JACTA DE RACIONAL Y OBJETIVO UTILICE INDICADORES PARA INFORMARSE SOBRE LOS COMPORTAMIENTOS DEL PERSONAL Y LA CONTRIBUCIÓN DE CADA UNO AL RESULTADO GLOBAL, EN PARTICULAR SI ESTA GESTIÓN ESTÁ CENTRALIZADA Y EN GRAN MEDIDA DESCONECTADA DEL TERRENO. </a:t>
            </a:r>
            <a:endParaRPr lang="es-ES" sz="3600" dirty="0"/>
          </a:p>
        </p:txBody>
      </p:sp>
    </p:spTree>
    <p:extLst>
      <p:ext uri="{BB962C8B-B14F-4D97-AF65-F5344CB8AC3E}">
        <p14:creationId xmlns:p14="http://schemas.microsoft.com/office/powerpoint/2010/main" val="1610987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1196752"/>
            <a:ext cx="7772400" cy="1470025"/>
          </a:xfrm>
        </p:spPr>
        <p:txBody>
          <a:bodyPr>
            <a:normAutofit/>
          </a:bodyPr>
          <a:lstStyle/>
          <a:p>
            <a:r>
              <a:rPr lang="es-ES" sz="8000" b="1" dirty="0" smtClean="0"/>
              <a:t>FALACIA </a:t>
            </a:r>
            <a:r>
              <a:rPr lang="es-ES" sz="8000" b="1" dirty="0" smtClean="0"/>
              <a:t>4</a:t>
            </a:r>
            <a:endParaRPr lang="es-ES" sz="8000" b="1" dirty="0"/>
          </a:p>
        </p:txBody>
      </p:sp>
      <p:sp>
        <p:nvSpPr>
          <p:cNvPr id="3" name="2 Subtítulo"/>
          <p:cNvSpPr>
            <a:spLocks noGrp="1"/>
          </p:cNvSpPr>
          <p:nvPr>
            <p:ph type="subTitle" idx="1"/>
          </p:nvPr>
        </p:nvSpPr>
        <p:spPr/>
        <p:txBody>
          <a:bodyPr/>
          <a:lstStyle/>
          <a:p>
            <a:r>
              <a:rPr lang="es-ES" b="1" dirty="0" smtClean="0">
                <a:solidFill>
                  <a:schemeClr val="tx1"/>
                </a:solidFill>
              </a:rPr>
              <a:t>SOFISMAS DE COMPOSICIÓN</a:t>
            </a:r>
            <a:endParaRPr lang="es-ES" b="1" dirty="0">
              <a:solidFill>
                <a:schemeClr val="tx1"/>
              </a:solidFill>
            </a:endParaRPr>
          </a:p>
        </p:txBody>
      </p:sp>
    </p:spTree>
    <p:extLst>
      <p:ext uri="{BB962C8B-B14F-4D97-AF65-F5344CB8AC3E}">
        <p14:creationId xmlns:p14="http://schemas.microsoft.com/office/powerpoint/2010/main" val="3951843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52736"/>
            <a:ext cx="8229600" cy="4896544"/>
          </a:xfrm>
        </p:spPr>
        <p:txBody>
          <a:bodyPr>
            <a:normAutofit/>
          </a:bodyPr>
          <a:lstStyle/>
          <a:p>
            <a:pPr marL="0" indent="0" algn="ctr">
              <a:buNone/>
            </a:pPr>
            <a:r>
              <a:rPr lang="es-ES" sz="3600" dirty="0" smtClean="0"/>
              <a:t>MUCHOS EJECUTIVOS Y MANDOS MEDIOS MANTIENEN A SUS COLABORADORES EN UNA SITUACION PARKINSONIANA EN EL PUNTO ALGIDO </a:t>
            </a:r>
            <a:r>
              <a:rPr lang="es-ES" sz="3600" dirty="0" smtClean="0"/>
              <a:t>DE LA </a:t>
            </a:r>
            <a:r>
              <a:rPr lang="es-ES" sz="3600" dirty="0" smtClean="0"/>
              <a:t>CURVA, ALTERNANDO </a:t>
            </a:r>
            <a:r>
              <a:rPr lang="es-ES" sz="3600" dirty="0" smtClean="0"/>
              <a:t>PRESIÓN </a:t>
            </a:r>
            <a:r>
              <a:rPr lang="es-ES" sz="3600" dirty="0" smtClean="0"/>
              <a:t>COMPETITIVA CON INTENTOS DE RELAJAR LA EXCESIVA TENSIÓN, LO QUE SE TRADUCE EN UNA COMUNICACIÓN PARADÓJICA</a:t>
            </a:r>
            <a:endParaRPr lang="es-ES" sz="3600" dirty="0"/>
          </a:p>
        </p:txBody>
      </p:sp>
    </p:spTree>
    <p:extLst>
      <p:ext uri="{BB962C8B-B14F-4D97-AF65-F5344CB8AC3E}">
        <p14:creationId xmlns:p14="http://schemas.microsoft.com/office/powerpoint/2010/main" val="3160809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764704"/>
            <a:ext cx="7772400" cy="1470025"/>
          </a:xfrm>
        </p:spPr>
        <p:txBody>
          <a:bodyPr>
            <a:normAutofit/>
          </a:bodyPr>
          <a:lstStyle/>
          <a:p>
            <a:r>
              <a:rPr lang="es-ES" sz="8000" b="1" dirty="0" smtClean="0"/>
              <a:t>LOS MITOS:</a:t>
            </a:r>
            <a:endParaRPr lang="es-ES" sz="8000" b="1" dirty="0"/>
          </a:p>
        </p:txBody>
      </p:sp>
      <p:sp>
        <p:nvSpPr>
          <p:cNvPr id="3" name="2 Subtítulo"/>
          <p:cNvSpPr>
            <a:spLocks noGrp="1"/>
          </p:cNvSpPr>
          <p:nvPr>
            <p:ph type="subTitle" idx="1"/>
          </p:nvPr>
        </p:nvSpPr>
        <p:spPr>
          <a:xfrm>
            <a:off x="1371600" y="3356992"/>
            <a:ext cx="6400800" cy="1752600"/>
          </a:xfrm>
        </p:spPr>
        <p:txBody>
          <a:bodyPr>
            <a:normAutofit fontScale="92500" lnSpcReduction="10000"/>
          </a:bodyPr>
          <a:lstStyle/>
          <a:p>
            <a:r>
              <a:rPr lang="es-ES" b="1" dirty="0" smtClean="0">
                <a:solidFill>
                  <a:schemeClr val="tx1"/>
                </a:solidFill>
              </a:rPr>
              <a:t>CONJUNTO DE CREENCIAS O NARRACION IMAGINARIA QUE INTENTA DAR UNA EXPLICACIÓN A LA REALIDAD.</a:t>
            </a:r>
            <a:endParaRPr lang="es-ES" b="1" dirty="0">
              <a:solidFill>
                <a:schemeClr val="tx1"/>
              </a:solidFill>
            </a:endParaRPr>
          </a:p>
        </p:txBody>
      </p:sp>
    </p:spTree>
    <p:extLst>
      <p:ext uri="{BB962C8B-B14F-4D97-AF65-F5344CB8AC3E}">
        <p14:creationId xmlns:p14="http://schemas.microsoft.com/office/powerpoint/2010/main" val="780748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80729"/>
            <a:ext cx="8229600" cy="5040560"/>
          </a:xfrm>
        </p:spPr>
        <p:txBody>
          <a:bodyPr>
            <a:normAutofit lnSpcReduction="10000"/>
          </a:bodyPr>
          <a:lstStyle/>
          <a:p>
            <a:pPr marL="0" indent="0" algn="ctr">
              <a:buNone/>
            </a:pPr>
            <a:r>
              <a:rPr lang="es-ES" dirty="0" smtClean="0"/>
              <a:t>EL MITO DE “SOLO PUEDE QUEDAR UNO”. WINNERS Y LOOSERS YA DESDE LA ESCUELA. LA ESCUELA ES UN PROCESO DE SELECCIÓN PERMANENTE QUE ELIMINA, CON POCA CONTEMPLACIÓN, A AQUELLOS QUE NO CUMPLEN CON EL ITINERARIO ACADÉMICO IDEA.  EL CRITERIO DE ATRACCIÓN ES EL INDICE DE ÉXITO EN EL EXAMEN DE FIN DE ESTUDIOS.  MIDE SOBRE LOS QUE SE PRESENTARON, NO SOBRE LOS QUE INGRESARON. LOS INDICES SON UNA FALACIA.</a:t>
            </a:r>
            <a:endParaRPr lang="es-ES" dirty="0"/>
          </a:p>
        </p:txBody>
      </p:sp>
    </p:spTree>
    <p:extLst>
      <p:ext uri="{BB962C8B-B14F-4D97-AF65-F5344CB8AC3E}">
        <p14:creationId xmlns:p14="http://schemas.microsoft.com/office/powerpoint/2010/main" val="3383054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Autofit/>
          </a:bodyPr>
          <a:lstStyle/>
          <a:p>
            <a:r>
              <a:rPr lang="es-ES" sz="4800" b="1" dirty="0" smtClean="0"/>
              <a:t>EL MITO DE LA OBJETIVIDAD</a:t>
            </a:r>
            <a:endParaRPr lang="es-ES" sz="4800" b="1" dirty="0"/>
          </a:p>
        </p:txBody>
      </p:sp>
    </p:spTree>
    <p:extLst>
      <p:ext uri="{BB962C8B-B14F-4D97-AF65-F5344CB8AC3E}">
        <p14:creationId xmlns:p14="http://schemas.microsoft.com/office/powerpoint/2010/main" val="1452001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40768"/>
            <a:ext cx="8229600" cy="4525963"/>
          </a:xfrm>
        </p:spPr>
        <p:txBody>
          <a:bodyPr>
            <a:normAutofit/>
          </a:bodyPr>
          <a:lstStyle/>
          <a:p>
            <a:pPr marL="0" indent="0" algn="ctr">
              <a:buNone/>
            </a:pPr>
            <a:r>
              <a:rPr lang="es-ES" sz="4400" dirty="0" smtClean="0"/>
              <a:t>EN RRHH SE BASAN EN LA EXIGENCIA DE OBJETIVIDAD Y EL RECHAZO A LA SUBJETIVIDAD, COMO POR EJEMPLO EL MODELO DE COMPETENCIAS. </a:t>
            </a:r>
            <a:endParaRPr lang="es-ES" sz="4400" dirty="0"/>
          </a:p>
        </p:txBody>
      </p:sp>
    </p:spTree>
    <p:extLst>
      <p:ext uri="{BB962C8B-B14F-4D97-AF65-F5344CB8AC3E}">
        <p14:creationId xmlns:p14="http://schemas.microsoft.com/office/powerpoint/2010/main" val="3482314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124744"/>
            <a:ext cx="8229600" cy="4525963"/>
          </a:xfrm>
        </p:spPr>
        <p:txBody>
          <a:bodyPr>
            <a:normAutofit/>
          </a:bodyPr>
          <a:lstStyle/>
          <a:p>
            <a:pPr marL="0" indent="0" algn="ctr">
              <a:buNone/>
            </a:pPr>
            <a:r>
              <a:rPr lang="es-ES" sz="3600" dirty="0" smtClean="0"/>
              <a:t>EN ESTE SENTIDO OBJETIVIDAD SERÍA LA CALIDAD DE LAS OPINIONES QUE COINCIDEN CON LA PROPIA. </a:t>
            </a:r>
          </a:p>
          <a:p>
            <a:pPr marL="0" indent="0" algn="ctr">
              <a:buNone/>
            </a:pPr>
            <a:endParaRPr lang="es-ES" sz="3600" dirty="0"/>
          </a:p>
          <a:p>
            <a:pPr marL="0" indent="0" algn="ctr">
              <a:buNone/>
            </a:pPr>
            <a:r>
              <a:rPr lang="es-ES" sz="3600" dirty="0" smtClean="0"/>
              <a:t>NADIE CALIFICA DE OBJETIVAS A AQUELLAS PERSONAS CON LAS QUE DISCREPA TOTALMENTE.</a:t>
            </a:r>
            <a:endParaRPr lang="es-ES" sz="3600" dirty="0"/>
          </a:p>
        </p:txBody>
      </p:sp>
    </p:spTree>
    <p:extLst>
      <p:ext uri="{BB962C8B-B14F-4D97-AF65-F5344CB8AC3E}">
        <p14:creationId xmlns:p14="http://schemas.microsoft.com/office/powerpoint/2010/main" val="2479573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247007"/>
            <a:ext cx="7772400" cy="1470025"/>
          </a:xfrm>
        </p:spPr>
        <p:txBody>
          <a:bodyPr>
            <a:noAutofit/>
          </a:bodyPr>
          <a:lstStyle/>
          <a:p>
            <a:r>
              <a:rPr lang="es-ES" sz="4800" b="1" dirty="0" smtClean="0"/>
              <a:t>EL MITO DE LA EXCELENCIA</a:t>
            </a:r>
            <a:endParaRPr lang="es-ES" sz="4800" b="1" dirty="0"/>
          </a:p>
        </p:txBody>
      </p:sp>
    </p:spTree>
    <p:extLst>
      <p:ext uri="{BB962C8B-B14F-4D97-AF65-F5344CB8AC3E}">
        <p14:creationId xmlns:p14="http://schemas.microsoft.com/office/powerpoint/2010/main" val="122913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0" indent="0" algn="ctr">
              <a:buNone/>
            </a:pPr>
            <a:r>
              <a:rPr lang="es-ES" sz="4400" dirty="0" smtClean="0"/>
              <a:t>LO EXCELENTE ES AQUELLO QUE SE SITÚA POR ENCIMA DE LOS DEMÁS. PERO SEGÚN EL DOGMA TODOS SOBRESALIMOS, NADIE SOBRESALE.</a:t>
            </a:r>
            <a:endParaRPr lang="es-ES" sz="4400" dirty="0"/>
          </a:p>
        </p:txBody>
      </p:sp>
    </p:spTree>
    <p:extLst>
      <p:ext uri="{BB962C8B-B14F-4D97-AF65-F5344CB8AC3E}">
        <p14:creationId xmlns:p14="http://schemas.microsoft.com/office/powerpoint/2010/main" val="186149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196752"/>
            <a:ext cx="8229600" cy="4525963"/>
          </a:xfrm>
        </p:spPr>
        <p:txBody>
          <a:bodyPr>
            <a:normAutofit/>
          </a:bodyPr>
          <a:lstStyle/>
          <a:p>
            <a:pPr marL="0" indent="0" algn="ctr">
              <a:buNone/>
            </a:pPr>
            <a:r>
              <a:rPr lang="es-ES" sz="3600" dirty="0" smtClean="0"/>
              <a:t>EL </a:t>
            </a:r>
            <a:r>
              <a:rPr lang="es-ES" sz="3600" dirty="0" smtClean="0"/>
              <a:t>TECNOMANAGEMENT </a:t>
            </a:r>
            <a:r>
              <a:rPr lang="es-ES" sz="3600" dirty="0" smtClean="0"/>
              <a:t>ES PERFECCIONISTA Y QUIERE QUE TODOS LOS TRABAJADORES INCLUYENDO A TODOS LOS QUE TRABAJAN EN LA EMPRESA, SE CONVIERTAN EN PERFECCIONISTAS, ESFORZANDOSE COMPULSIVA E IMPLACABLEMENTE HACIA OBJETIVOS IMPOSIBLES.</a:t>
            </a:r>
            <a:endParaRPr lang="es-ES" sz="3600" dirty="0"/>
          </a:p>
        </p:txBody>
      </p:sp>
    </p:spTree>
    <p:extLst>
      <p:ext uri="{BB962C8B-B14F-4D97-AF65-F5344CB8AC3E}">
        <p14:creationId xmlns:p14="http://schemas.microsoft.com/office/powerpoint/2010/main" val="1243841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52736"/>
            <a:ext cx="8229600" cy="5073427"/>
          </a:xfrm>
        </p:spPr>
        <p:txBody>
          <a:bodyPr/>
          <a:lstStyle/>
          <a:p>
            <a:pPr marL="0" indent="0" algn="ctr">
              <a:buNone/>
            </a:pPr>
            <a:r>
              <a:rPr lang="es-ES" sz="3600" b="1" dirty="0" smtClean="0"/>
              <a:t>PERO EN EL MOMENTO EN QUE UN OBJETIVO DEJA DE SER ALCANZABLE, PASA A SER DESMOTIVADOR.  </a:t>
            </a:r>
          </a:p>
          <a:p>
            <a:pPr marL="0" indent="0" algn="ctr">
              <a:buNone/>
            </a:pPr>
            <a:endParaRPr lang="es-ES" sz="3600" b="1" dirty="0" smtClean="0"/>
          </a:p>
          <a:p>
            <a:pPr marL="0" indent="0" algn="ctr">
              <a:buNone/>
            </a:pPr>
            <a:r>
              <a:rPr lang="es-ES" sz="3600" b="1" dirty="0" smtClean="0"/>
              <a:t>DE TANTO CORRER TRAS UNA ILUSIÓN MÍTICA, SE PIERDE FÉ EN LO QUE SE HACE, SE DESMOTIVA Y HASTA  SE ADOPTA UNA ACTITUD DE IRRESPONSABILIDAD</a:t>
            </a:r>
            <a:r>
              <a:rPr lang="es-ES" dirty="0" smtClean="0"/>
              <a:t>.</a:t>
            </a:r>
            <a:endParaRPr lang="es-ES" dirty="0"/>
          </a:p>
        </p:txBody>
      </p:sp>
    </p:spTree>
    <p:extLst>
      <p:ext uri="{BB962C8B-B14F-4D97-AF65-F5344CB8AC3E}">
        <p14:creationId xmlns:p14="http://schemas.microsoft.com/office/powerpoint/2010/main" val="106506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52737"/>
            <a:ext cx="8229600" cy="4752528"/>
          </a:xfrm>
        </p:spPr>
        <p:txBody>
          <a:bodyPr>
            <a:normAutofit/>
          </a:bodyPr>
          <a:lstStyle/>
          <a:p>
            <a:pPr marL="0" indent="0" algn="ctr">
              <a:buNone/>
            </a:pPr>
            <a:r>
              <a:rPr lang="es-ES" sz="3600" dirty="0" smtClean="0"/>
              <a:t>AL EXIGIR EXCELENCIA EL TECNOMANAGMENT CONFUNDE LO QUE ES UNA DIRECCIÓN ORIENTADORA O UN OBJETIVO A ALCANZAR, LO QUE LOS LLEVA A GENERAR COMPLEJOS SISTEMAS DE CONTROL PARA VERIFICAR QUE TODOS ESTAMOS SIENDO SOBRESALIENTES Y PERFECTOS.</a:t>
            </a:r>
            <a:endParaRPr lang="es-ES" sz="3600" dirty="0"/>
          </a:p>
        </p:txBody>
      </p:sp>
    </p:spTree>
    <p:extLst>
      <p:ext uri="{BB962C8B-B14F-4D97-AF65-F5344CB8AC3E}">
        <p14:creationId xmlns:p14="http://schemas.microsoft.com/office/powerpoint/2010/main" val="3481308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319015"/>
            <a:ext cx="7772400" cy="1470025"/>
          </a:xfrm>
        </p:spPr>
        <p:txBody>
          <a:bodyPr>
            <a:normAutofit/>
          </a:bodyPr>
          <a:lstStyle/>
          <a:p>
            <a:r>
              <a:rPr lang="es-ES" sz="8000" b="1" dirty="0" smtClean="0"/>
              <a:t>EJEMPLOS:</a:t>
            </a:r>
            <a:endParaRPr lang="es-ES" sz="8000" b="1" dirty="0"/>
          </a:p>
        </p:txBody>
      </p:sp>
    </p:spTree>
    <p:extLst>
      <p:ext uri="{BB962C8B-B14F-4D97-AF65-F5344CB8AC3E}">
        <p14:creationId xmlns:p14="http://schemas.microsoft.com/office/powerpoint/2010/main" val="1856155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0" indent="0" algn="ctr">
              <a:buNone/>
            </a:pPr>
            <a:r>
              <a:rPr lang="es-ES" sz="4400" dirty="0" smtClean="0"/>
              <a:t>NOS DICEN QUE TENEMOS QUE TRABAJAR EN EQUIPO PERO LA EVALUACION DE LOS RESULTADOS ES EXCLUSIVAMENTE INDIVIDUAL.</a:t>
            </a:r>
            <a:endParaRPr lang="es-ES" sz="4400" dirty="0"/>
          </a:p>
        </p:txBody>
      </p:sp>
    </p:spTree>
    <p:extLst>
      <p:ext uri="{BB962C8B-B14F-4D97-AF65-F5344CB8AC3E}">
        <p14:creationId xmlns:p14="http://schemas.microsoft.com/office/powerpoint/2010/main" val="96790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268760"/>
            <a:ext cx="8229600" cy="4525963"/>
          </a:xfrm>
        </p:spPr>
        <p:txBody>
          <a:bodyPr>
            <a:normAutofit/>
          </a:bodyPr>
          <a:lstStyle/>
          <a:p>
            <a:pPr marL="0" indent="0" algn="ctr">
              <a:buNone/>
            </a:pPr>
            <a:r>
              <a:rPr lang="es-ES" sz="4400" dirty="0" smtClean="0"/>
              <a:t>NOS HABLAN DE CALIDAD TOTAL ANTES QUE NADA PERO SOLAMENTE IMPORTA LA RENTABILIDAD </a:t>
            </a:r>
            <a:r>
              <a:rPr lang="es-ES" sz="4400" dirty="0" smtClean="0"/>
              <a:t>ECONOMICA </a:t>
            </a:r>
            <a:r>
              <a:rPr lang="es-ES" sz="4400" dirty="0" smtClean="0"/>
              <a:t>Y LOS RESULTADOS CUANTITATIVOS.</a:t>
            </a:r>
            <a:endParaRPr lang="es-ES" sz="4400" dirty="0"/>
          </a:p>
        </p:txBody>
      </p:sp>
    </p:spTree>
    <p:extLst>
      <p:ext uri="{BB962C8B-B14F-4D97-AF65-F5344CB8AC3E}">
        <p14:creationId xmlns:p14="http://schemas.microsoft.com/office/powerpoint/2010/main" val="351302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80729"/>
            <a:ext cx="8229600" cy="4968552"/>
          </a:xfrm>
        </p:spPr>
        <p:txBody>
          <a:bodyPr>
            <a:normAutofit lnSpcReduction="10000"/>
          </a:bodyPr>
          <a:lstStyle/>
          <a:p>
            <a:pPr marL="0" indent="0" algn="ctr">
              <a:buNone/>
            </a:pPr>
            <a:r>
              <a:rPr lang="es-ES" b="1" dirty="0" smtClean="0"/>
              <a:t>EL PROPOSITO DEL TECNOMANAGEMENT ES REDUCCIONISTA Y ANIMALISTA. </a:t>
            </a:r>
          </a:p>
          <a:p>
            <a:pPr marL="0" indent="0" algn="ctr">
              <a:buNone/>
            </a:pPr>
            <a:endParaRPr lang="es-ES" b="1" dirty="0" smtClean="0"/>
          </a:p>
          <a:p>
            <a:pPr marL="0" indent="0" algn="ctr">
              <a:buNone/>
            </a:pPr>
            <a:r>
              <a:rPr lang="es-ES" b="1" dirty="0" smtClean="0"/>
              <a:t>SI LOS SERES HUMANOS SON INFERIORES A LOS ANIMALES O A LAS MÁQUINAS, PRESCINDA TOTALMENTE DE ELLOS. </a:t>
            </a:r>
          </a:p>
          <a:p>
            <a:pPr marL="0" indent="0" algn="ctr">
              <a:buNone/>
            </a:pPr>
            <a:endParaRPr lang="es-ES" b="1" dirty="0" smtClean="0"/>
          </a:p>
          <a:p>
            <a:pPr marL="0" indent="0" algn="ctr">
              <a:buNone/>
            </a:pPr>
            <a:r>
              <a:rPr lang="es-ES" b="1" dirty="0" smtClean="0"/>
              <a:t>Y SI SON SUPERIORES, DEJE DE DESPERDICIAR SUS CAPACIDADES Y TALENTOS QUE EL QUE ESTÁ PERDIENDO ES USTED.</a:t>
            </a:r>
            <a:endParaRPr lang="es-ES" b="1" dirty="0"/>
          </a:p>
        </p:txBody>
      </p:sp>
    </p:spTree>
    <p:extLst>
      <p:ext uri="{BB962C8B-B14F-4D97-AF65-F5344CB8AC3E}">
        <p14:creationId xmlns:p14="http://schemas.microsoft.com/office/powerpoint/2010/main" val="2111421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80727"/>
            <a:ext cx="8229600" cy="5040561"/>
          </a:xfrm>
        </p:spPr>
        <p:txBody>
          <a:bodyPr>
            <a:normAutofit fontScale="85000" lnSpcReduction="20000"/>
          </a:bodyPr>
          <a:lstStyle/>
          <a:p>
            <a:endParaRPr lang="es-ES" dirty="0" smtClean="0"/>
          </a:p>
          <a:p>
            <a:pPr marL="0" indent="0" algn="ctr">
              <a:buNone/>
            </a:pPr>
            <a:r>
              <a:rPr lang="es-ES" sz="3300" dirty="0" smtClean="0"/>
              <a:t>LOS TECNOMANAGERS PIDEN A LOS TRABAJADORES QUE SE INVOLUCREN EN LOS OBJETIVOS DE LA EMPRESA, QUE ESTÉN ILUSIONADOS Y MOTIVADOS POR SU TRABAJO, QUE PARA REALIZAR EL TRABAJO CON CALIDAD TOTAL SIENTAN LA SATISFACCIÓN DE LA OBRA BIEN HECHA Y DEL DEBER CUMPLIDO, QUE SE LLEVEN BIEN CON SUS COMPAÑEROS, QUE PREFIERAN LOS RECONOCIMIENTOS SOCIALES A UN AUMENTO DE SUELDO, PERO A LA VEZ ACEPTEN DE BUENAS GANAS QUE AQUELLOS QUE LES MANDAN Y DIRIGEN LO HAGAN SIN LA MENOR COMPASIÓN, SIN TENER SENTIMIENTOS NI MANIFESTAR ESTADOS DE ÁNIMO.</a:t>
            </a:r>
          </a:p>
          <a:p>
            <a:endParaRPr lang="es-ES" dirty="0"/>
          </a:p>
        </p:txBody>
      </p:sp>
    </p:spTree>
    <p:extLst>
      <p:ext uri="{BB962C8B-B14F-4D97-AF65-F5344CB8AC3E}">
        <p14:creationId xmlns:p14="http://schemas.microsoft.com/office/powerpoint/2010/main" val="4162798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484784"/>
            <a:ext cx="8229600" cy="4525963"/>
          </a:xfrm>
        </p:spPr>
        <p:txBody>
          <a:bodyPr>
            <a:normAutofit/>
          </a:bodyPr>
          <a:lstStyle/>
          <a:p>
            <a:pPr marL="0" indent="0" algn="ctr">
              <a:buNone/>
            </a:pPr>
            <a:r>
              <a:rPr lang="es-ES" sz="4000" dirty="0" smtClean="0"/>
              <a:t>EL REPROCHE AL TECNOMANAGMEMENT ES DE HIPOTECAR EL LARGO PLAZO EN NOMBRE DE LA INMEDIATEZ COMO SI MAÑANA NO FUERA A LLEGAR NUNCA.</a:t>
            </a:r>
            <a:endParaRPr lang="es-ES" sz="4000" dirty="0"/>
          </a:p>
        </p:txBody>
      </p:sp>
    </p:spTree>
    <p:extLst>
      <p:ext uri="{BB962C8B-B14F-4D97-AF65-F5344CB8AC3E}">
        <p14:creationId xmlns:p14="http://schemas.microsoft.com/office/powerpoint/2010/main" val="1050750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52737"/>
            <a:ext cx="8229600" cy="4752528"/>
          </a:xfrm>
        </p:spPr>
        <p:txBody>
          <a:bodyPr>
            <a:normAutofit/>
          </a:bodyPr>
          <a:lstStyle/>
          <a:p>
            <a:pPr marL="0" indent="0" algn="ctr">
              <a:buNone/>
            </a:pPr>
            <a:r>
              <a:rPr lang="es-ES" sz="3600" dirty="0" smtClean="0"/>
              <a:t>EL </a:t>
            </a:r>
            <a:r>
              <a:rPr lang="es-ES" sz="3600" dirty="0" smtClean="0"/>
              <a:t>TECNOMANAGEMENT </a:t>
            </a:r>
            <a:r>
              <a:rPr lang="es-ES" sz="3600" dirty="0" smtClean="0"/>
              <a:t>NO LO PERMITE. </a:t>
            </a:r>
          </a:p>
          <a:p>
            <a:pPr marL="0" indent="0" algn="ctr">
              <a:buNone/>
            </a:pPr>
            <a:endParaRPr lang="es-ES" sz="3600" dirty="0"/>
          </a:p>
          <a:p>
            <a:pPr marL="0" indent="0" algn="ctr">
              <a:buNone/>
            </a:pPr>
            <a:r>
              <a:rPr lang="es-ES" sz="3600" dirty="0" smtClean="0"/>
              <a:t>SU ESTRUCTURA Y SUS FUNDAMENTOS TAYLORISTAS Y BUROCRÁTICOS CHOCAN CON LOS NUEVOS PARADIGMAS DE GESTIÓN QUE SE REQUIEREN PARA LA SOSTENIBILIDAD. </a:t>
            </a:r>
            <a:endParaRPr lang="es-ES" sz="3600" dirty="0"/>
          </a:p>
        </p:txBody>
      </p:sp>
    </p:spTree>
    <p:extLst>
      <p:ext uri="{BB962C8B-B14F-4D97-AF65-F5344CB8AC3E}">
        <p14:creationId xmlns:p14="http://schemas.microsoft.com/office/powerpoint/2010/main" val="308093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980729"/>
            <a:ext cx="8229600" cy="4680520"/>
          </a:xfrm>
        </p:spPr>
        <p:txBody>
          <a:bodyPr>
            <a:noAutofit/>
          </a:bodyPr>
          <a:lstStyle/>
          <a:p>
            <a:pPr marL="0" indent="0" algn="ctr">
              <a:buNone/>
            </a:pPr>
            <a:r>
              <a:rPr lang="es-ES" sz="3600" dirty="0" smtClean="0"/>
              <a:t>¿ESTÁ CONDENDADO EL MANAGEMENT  DE HUMANOS A CONVERTIRSE EN INHUMANO? </a:t>
            </a:r>
          </a:p>
          <a:p>
            <a:pPr marL="0" indent="0" algn="ctr">
              <a:buNone/>
            </a:pPr>
            <a:endParaRPr lang="es-ES" sz="3600" dirty="0"/>
          </a:p>
          <a:p>
            <a:pPr marL="0" indent="0" algn="ctr">
              <a:buNone/>
            </a:pPr>
            <a:r>
              <a:rPr lang="es-ES" sz="3600" dirty="0" smtClean="0"/>
              <a:t>¿ESTÁ CONDENADA </a:t>
            </a:r>
            <a:r>
              <a:rPr lang="es-ES" sz="3600" smtClean="0"/>
              <a:t>LA </a:t>
            </a:r>
            <a:r>
              <a:rPr lang="es-ES" sz="3600" smtClean="0"/>
              <a:t>ORGANIZACIÓN </a:t>
            </a:r>
            <a:r>
              <a:rPr lang="es-ES" sz="3600" dirty="0" smtClean="0"/>
              <a:t>QUE BUSCA LA </a:t>
            </a:r>
            <a:r>
              <a:rPr lang="es-ES" sz="3600" smtClean="0"/>
              <a:t>MÁXIMA </a:t>
            </a:r>
            <a:r>
              <a:rPr lang="es-ES" sz="3600" smtClean="0"/>
              <a:t>EFICACIA,  </a:t>
            </a:r>
            <a:r>
              <a:rPr lang="es-ES" sz="3600" dirty="0" smtClean="0"/>
              <a:t>A ABUSAR DE AQUELLOS QUE SE LA PUEDEN PROPORCIONAR?</a:t>
            </a:r>
            <a:endParaRPr lang="es-ES" sz="3600" dirty="0"/>
          </a:p>
        </p:txBody>
      </p:sp>
    </p:spTree>
    <p:extLst>
      <p:ext uri="{BB962C8B-B14F-4D97-AF65-F5344CB8AC3E}">
        <p14:creationId xmlns:p14="http://schemas.microsoft.com/office/powerpoint/2010/main" val="25243470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914</Words>
  <Application>Microsoft Office PowerPoint</Application>
  <PresentationFormat>Presentación en pantalla (4:3)</PresentationFormat>
  <Paragraphs>56</Paragraphs>
  <Slides>30</Slides>
  <Notes>0</Notes>
  <HiddenSlides>0</HiddenSlides>
  <MMClips>0</MMClips>
  <ScaleCrop>false</ScaleCrop>
  <HeadingPairs>
    <vt:vector size="4" baseType="variant">
      <vt:variant>
        <vt:lpstr>Tema</vt:lpstr>
      </vt:variant>
      <vt:variant>
        <vt:i4>1</vt:i4>
      </vt:variant>
      <vt:variant>
        <vt:lpstr>Títulos de diapositiva</vt:lpstr>
      </vt:variant>
      <vt:variant>
        <vt:i4>30</vt:i4>
      </vt:variant>
    </vt:vector>
  </HeadingPairs>
  <TitlesOfParts>
    <vt:vector size="31" baseType="lpstr">
      <vt:lpstr>Tema de Office</vt:lpstr>
      <vt:lpstr>LAS FALACIAS DEL TECNOMANAGEMENT</vt:lpstr>
      <vt:lpstr>Presentación de PowerPoint</vt:lpstr>
      <vt:lpstr>Silogismos del tecnomanagement:</vt:lpstr>
      <vt:lpstr>Presentación de PowerPoint</vt:lpstr>
      <vt:lpstr>FALACIA 1</vt:lpstr>
      <vt:lpstr>Presentación de PowerPoint</vt:lpstr>
      <vt:lpstr>FALACIA 2</vt:lpstr>
      <vt:lpstr>Presentación de PowerPoint</vt:lpstr>
      <vt:lpstr>FALACIA 3</vt:lpstr>
      <vt:lpstr>Presentación de PowerPoint</vt:lpstr>
      <vt:lpstr>FALACIA 4</vt:lpstr>
      <vt:lpstr>Presentación de PowerPoint</vt:lpstr>
      <vt:lpstr>LOS MITOS:</vt:lpstr>
      <vt:lpstr>Presentación de PowerPoint</vt:lpstr>
      <vt:lpstr>EL MITO DE LA OBJETIVIDAD</vt:lpstr>
      <vt:lpstr>Presentación de PowerPoint</vt:lpstr>
      <vt:lpstr>Presentación de PowerPoint</vt:lpstr>
      <vt:lpstr>EL MITO DE LA EXCELENCIA</vt:lpstr>
      <vt:lpstr>Presentación de PowerPoint</vt:lpstr>
      <vt:lpstr>Presentación de PowerPoint</vt:lpstr>
      <vt:lpstr>Presentación de PowerPoint</vt:lpstr>
      <vt:lpstr>Presentación de PowerPoint</vt:lpstr>
      <vt:lpstr>EJEMPLOS: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Pablo</dc:creator>
  <cp:lastModifiedBy>usuario</cp:lastModifiedBy>
  <cp:revision>73</cp:revision>
  <dcterms:created xsi:type="dcterms:W3CDTF">2013-06-30T20:02:11Z</dcterms:created>
  <dcterms:modified xsi:type="dcterms:W3CDTF">2017-05-26T17:48:03Z</dcterms:modified>
</cp:coreProperties>
</file>