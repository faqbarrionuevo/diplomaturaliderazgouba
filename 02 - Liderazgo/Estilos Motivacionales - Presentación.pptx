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s-A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99"/>
    <a:srgbClr val="00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08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9252F-AFA2-44E4-9E75-5CD2673817AC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9E1D8-0510-448A-96AE-F236A53407C7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EA75B-C6AE-4E7B-9E09-19B3A2DB5BD2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55486-BCE9-4C88-9DD2-63DCD4C3A58E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3CC2D7-F101-498D-A0F3-8F5C3339E3D2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65917-C603-4520-8114-E2A16A73A7F4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57346-DD2E-4561-85DF-B60911844F78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BE2E52-FC81-420F-BAB2-A17EC55860B7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C99DC-8DCE-486D-8F90-6BFAC3C1436C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33CB7-8F0C-437D-A482-832123E232C5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89855-56A8-4E24-AD89-9DBC548CEFC9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BCB178-F539-4715-B4D2-017043A02F7D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4FDB76-8E92-4FDF-9FEB-F09860B9D6DF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E7272F-F5E4-4786-BFC7-FE33E63BA1B5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E8688-449A-4D7E-ADB7-86E9315A84E1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2898B-F1CB-4064-BAB7-DFE1A4AB49CA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AR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7961-3BF2-4E0B-A1CE-EAEAEB11F911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54904-F01C-4395-9101-0DF7CDB84805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48981-AF8F-4731-A34E-29875C3E9521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480D4-57E3-46A4-A1A0-641A40E4F55B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9A24D-7320-43BC-B731-D7DC844B83AA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B6E24-44A6-409D-8709-D74BF7D7A2A7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5035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AR" smtClean="0"/>
          </a:p>
        </p:txBody>
      </p:sp>
      <p:sp>
        <p:nvSpPr>
          <p:cNvPr id="2051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748"/>
            <a:ext cx="2133600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AF4E5A1-FA31-4E38-884F-B92A32C87604}" type="datetimeFigureOut">
              <a:rPr lang="es-AR"/>
              <a:pPr>
                <a:defRPr/>
              </a:pPr>
              <a:t>24/10/2018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748"/>
            <a:ext cx="2895600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748"/>
            <a:ext cx="2133600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9BF72D-1453-4BF0-9CA9-CE5E2577E62B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971600" y="260648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800" b="1" spc="100" dirty="0" smtClean="0">
                <a:solidFill>
                  <a:schemeClr val="tx2"/>
                </a:solidFill>
                <a:latin typeface="Arial Black" pitchFamily="34" charset="0"/>
                <a:cs typeface="+mn-cs"/>
              </a:rPr>
              <a:t>ESTILOS MOTIVACIONALES</a:t>
            </a:r>
            <a:endParaRPr lang="es-ES" sz="2800" b="1" spc="100" dirty="0">
              <a:solidFill>
                <a:schemeClr val="tx2"/>
              </a:solidFill>
              <a:latin typeface="Arial Black" pitchFamily="34" charset="0"/>
              <a:cs typeface="+mn-cs"/>
            </a:endParaRPr>
          </a:p>
        </p:txBody>
      </p:sp>
      <p:grpSp>
        <p:nvGrpSpPr>
          <p:cNvPr id="38" name="37 Grupo"/>
          <p:cNvGrpSpPr/>
          <p:nvPr/>
        </p:nvGrpSpPr>
        <p:grpSpPr>
          <a:xfrm>
            <a:off x="251520" y="908720"/>
            <a:ext cx="8592090" cy="2882853"/>
            <a:chOff x="251520" y="1122211"/>
            <a:chExt cx="8592090" cy="2882853"/>
          </a:xfrm>
        </p:grpSpPr>
        <p:grpSp>
          <p:nvGrpSpPr>
            <p:cNvPr id="37" name="36 Grupo"/>
            <p:cNvGrpSpPr/>
            <p:nvPr/>
          </p:nvGrpSpPr>
          <p:grpSpPr>
            <a:xfrm>
              <a:off x="251520" y="1122211"/>
              <a:ext cx="8592090" cy="2882853"/>
              <a:chOff x="251520" y="1124744"/>
              <a:chExt cx="8592090" cy="2882853"/>
            </a:xfrm>
          </p:grpSpPr>
          <p:grpSp>
            <p:nvGrpSpPr>
              <p:cNvPr id="12" name="11 Grupo"/>
              <p:cNvGrpSpPr/>
              <p:nvPr/>
            </p:nvGrpSpPr>
            <p:grpSpPr>
              <a:xfrm>
                <a:off x="2536242" y="1124744"/>
                <a:ext cx="3562464" cy="1046169"/>
                <a:chOff x="2521704" y="1556792"/>
                <a:chExt cx="3562464" cy="1046169"/>
              </a:xfrm>
            </p:grpSpPr>
            <p:sp>
              <p:nvSpPr>
                <p:cNvPr id="6" name="5 CuadroTexto"/>
                <p:cNvSpPr txBox="1"/>
                <p:nvPr/>
              </p:nvSpPr>
              <p:spPr>
                <a:xfrm>
                  <a:off x="2627784" y="1556792"/>
                  <a:ext cx="3456384" cy="649188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noFill/>
                </a:ln>
                <a:effectLst>
                  <a:glow rad="139700">
                    <a:srgbClr val="00FF00">
                      <a:alpha val="40000"/>
                    </a:srgbClr>
                  </a:glow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AR" sz="2400" b="1" dirty="0" smtClean="0">
                      <a:latin typeface="Century Gothic" pitchFamily="34" charset="0"/>
                    </a:rPr>
                    <a:t>PREFERENCIAS</a:t>
                  </a:r>
                  <a:endParaRPr lang="es-ES" sz="2400" b="1" dirty="0">
                    <a:latin typeface="Century Gothic" pitchFamily="34" charset="0"/>
                  </a:endParaRPr>
                </a:p>
              </p:txBody>
            </p:sp>
            <p:sp>
              <p:nvSpPr>
                <p:cNvPr id="7" name="6 Flecha a la derecha con bandas"/>
                <p:cNvSpPr/>
                <p:nvPr/>
              </p:nvSpPr>
              <p:spPr>
                <a:xfrm rot="6735394">
                  <a:off x="2751500" y="1915677"/>
                  <a:ext cx="457488" cy="917079"/>
                </a:xfrm>
                <a:prstGeom prst="stripedRightArrow">
                  <a:avLst>
                    <a:gd name="adj1" fmla="val 34510"/>
                    <a:gd name="adj2" fmla="val 40885"/>
                  </a:avLst>
                </a:prstGeom>
                <a:solidFill>
                  <a:srgbClr val="00FF00"/>
                </a:solidFill>
                <a:ln>
                  <a:noFill/>
                </a:ln>
                <a:effectLst>
                  <a:glow rad="139700">
                    <a:srgbClr val="00FF00">
                      <a:alpha val="40000"/>
                    </a:srgbClr>
                  </a:glow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endParaRPr lang="es-ES" sz="2400" b="1" dirty="0" smtClean="0">
                    <a:solidFill>
                      <a:schemeClr val="dk1"/>
                    </a:solidFill>
                    <a:latin typeface="Century Gothic" pitchFamily="34" charset="0"/>
                  </a:endParaRPr>
                </a:p>
              </p:txBody>
            </p:sp>
          </p:grpSp>
          <p:grpSp>
            <p:nvGrpSpPr>
              <p:cNvPr id="36" name="35 Grupo"/>
              <p:cNvGrpSpPr/>
              <p:nvPr/>
            </p:nvGrpSpPr>
            <p:grpSpPr>
              <a:xfrm>
                <a:off x="251520" y="2204864"/>
                <a:ext cx="8592090" cy="1802733"/>
                <a:chOff x="251520" y="2204864"/>
                <a:chExt cx="8592090" cy="1802733"/>
              </a:xfrm>
            </p:grpSpPr>
            <p:sp>
              <p:nvSpPr>
                <p:cNvPr id="25" name="24 Flecha a la derecha con bandas"/>
                <p:cNvSpPr/>
                <p:nvPr/>
              </p:nvSpPr>
              <p:spPr>
                <a:xfrm rot="5400000">
                  <a:off x="4112194" y="3331767"/>
                  <a:ext cx="434580" cy="917079"/>
                </a:xfrm>
                <a:prstGeom prst="stripedRightArrow">
                  <a:avLst>
                    <a:gd name="adj1" fmla="val 30612"/>
                    <a:gd name="adj2" fmla="val 50001"/>
                  </a:avLst>
                </a:prstGeom>
                <a:solidFill>
                  <a:srgbClr val="00B0F0"/>
                </a:solidFill>
                <a:ln>
                  <a:noFill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endParaRPr lang="es-ES" sz="2400" b="1" dirty="0" smtClean="0">
                    <a:solidFill>
                      <a:schemeClr val="dk1"/>
                    </a:solidFill>
                    <a:latin typeface="Century Gothic" pitchFamily="34" charset="0"/>
                  </a:endParaRPr>
                </a:p>
              </p:txBody>
            </p:sp>
            <p:grpSp>
              <p:nvGrpSpPr>
                <p:cNvPr id="24" name="23 Grupo"/>
                <p:cNvGrpSpPr/>
                <p:nvPr/>
              </p:nvGrpSpPr>
              <p:grpSpPr>
                <a:xfrm>
                  <a:off x="251520" y="2204864"/>
                  <a:ext cx="8592090" cy="1440160"/>
                  <a:chOff x="251520" y="2636912"/>
                  <a:chExt cx="8592090" cy="1552238"/>
                </a:xfrm>
              </p:grpSpPr>
              <p:grpSp>
                <p:nvGrpSpPr>
                  <p:cNvPr id="13" name="12 Grupo"/>
                  <p:cNvGrpSpPr/>
                  <p:nvPr/>
                </p:nvGrpSpPr>
                <p:grpSpPr>
                  <a:xfrm>
                    <a:off x="251520" y="2636912"/>
                    <a:ext cx="8592090" cy="477124"/>
                    <a:chOff x="395536" y="3140968"/>
                    <a:chExt cx="8592090" cy="477124"/>
                  </a:xfrm>
                </p:grpSpPr>
                <p:sp>
                  <p:nvSpPr>
                    <p:cNvPr id="9" name="8 Llamada rectangular redondeada"/>
                    <p:cNvSpPr/>
                    <p:nvPr/>
                  </p:nvSpPr>
                  <p:spPr>
                    <a:xfrm>
                      <a:off x="395536" y="3140968"/>
                      <a:ext cx="3648436" cy="477124"/>
                    </a:xfrm>
                    <a:prstGeom prst="wedgeRoundRectCallout">
                      <a:avLst>
                        <a:gd name="adj1" fmla="val 24536"/>
                        <a:gd name="adj2" fmla="val 170086"/>
                        <a:gd name="adj3" fmla="val 16667"/>
                      </a:avLst>
                    </a:prstGeom>
                    <a:ln w="28575">
                      <a:solidFill>
                        <a:srgbClr val="00B0F0"/>
                      </a:solidFill>
                    </a:ln>
                  </p:spPr>
                  <p:txBody>
                    <a:bodyPr wrap="none">
                      <a:spAutoFit/>
                      <a:scene3d>
                        <a:camera prst="orthographicFront"/>
                        <a:lightRig rig="threePt" dir="t"/>
                      </a:scene3d>
                      <a:sp3d extrusionH="57150">
                        <a:bevelT w="38100" h="38100"/>
                      </a:sp3d>
                    </a:bodyPr>
                    <a:lstStyle/>
                    <a:p>
                      <a:r>
                        <a:rPr lang="es-ES_tradnl" sz="2000" dirty="0" smtClean="0">
                          <a:latin typeface="Century Gothic" pitchFamily="34" charset="0"/>
                        </a:rPr>
                        <a:t>por la </a:t>
                      </a:r>
                      <a:r>
                        <a:rPr lang="es-ES_tradnl" sz="2000" b="1" dirty="0" smtClean="0">
                          <a:ln w="3175">
                            <a:noFill/>
                          </a:ln>
                          <a:latin typeface="Century Gothic" pitchFamily="34" charset="0"/>
                        </a:rPr>
                        <a:t>TAREA</a:t>
                      </a:r>
                      <a:r>
                        <a:rPr lang="es-ES_tradnl" sz="2000" dirty="0" smtClean="0">
                          <a:ln w="3175">
                            <a:noFill/>
                          </a:ln>
                          <a:latin typeface="Century Gothic" pitchFamily="34" charset="0"/>
                        </a:rPr>
                        <a:t> </a:t>
                      </a:r>
                      <a:r>
                        <a:rPr lang="es-ES_tradnl" sz="2000" dirty="0" smtClean="0">
                          <a:latin typeface="Century Gothic" pitchFamily="34" charset="0"/>
                        </a:rPr>
                        <a:t>o por la </a:t>
                      </a:r>
                      <a:r>
                        <a:rPr lang="es-ES_tradnl" sz="2000" b="1" dirty="0" smtClean="0">
                          <a:ln w="3175">
                            <a:noFill/>
                          </a:ln>
                          <a:latin typeface="Century Gothic" pitchFamily="34" charset="0"/>
                        </a:rPr>
                        <a:t>GENTE</a:t>
                      </a:r>
                      <a:endParaRPr lang="es-ES" sz="2000" b="1" dirty="0" smtClean="0">
                        <a:ln w="3175">
                          <a:noFill/>
                        </a:ln>
                        <a:latin typeface="Century Gothic" pitchFamily="34" charset="0"/>
                      </a:endParaRPr>
                    </a:p>
                  </p:txBody>
                </p:sp>
                <p:sp>
                  <p:nvSpPr>
                    <p:cNvPr id="10" name="9 Llamada rectangular redondeada"/>
                    <p:cNvSpPr/>
                    <p:nvPr/>
                  </p:nvSpPr>
                  <p:spPr>
                    <a:xfrm>
                      <a:off x="4211960" y="3140968"/>
                      <a:ext cx="4775666" cy="477124"/>
                    </a:xfrm>
                    <a:prstGeom prst="wedgeRoundRectCallout">
                      <a:avLst>
                        <a:gd name="adj1" fmla="val -27438"/>
                        <a:gd name="adj2" fmla="val 176248"/>
                        <a:gd name="adj3" fmla="val 16667"/>
                      </a:avLst>
                    </a:prstGeom>
                    <a:ln w="28575">
                      <a:solidFill>
                        <a:srgbClr val="00B0F0"/>
                      </a:solidFill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s-ES_tradnl" sz="2000" dirty="0" smtClean="0">
                          <a:latin typeface="Century Gothic" pitchFamily="34" charset="0"/>
                        </a:rPr>
                        <a:t>por la </a:t>
                      </a:r>
                      <a:r>
                        <a:rPr lang="es-ES_tradnl" sz="2000" b="1" dirty="0" smtClean="0">
                          <a:ln w="3175">
                            <a:noFill/>
                          </a:ln>
                          <a:latin typeface="Century Gothic" pitchFamily="34" charset="0"/>
                        </a:rPr>
                        <a:t>ACTIVIDAD</a:t>
                      </a:r>
                      <a:r>
                        <a:rPr lang="es-ES_tradnl" sz="2000" dirty="0" smtClean="0">
                          <a:latin typeface="Century Gothic" pitchFamily="34" charset="0"/>
                        </a:rPr>
                        <a:t> o por la </a:t>
                      </a:r>
                      <a:r>
                        <a:rPr lang="es-ES_tradnl" sz="2000" b="1" dirty="0" smtClean="0">
                          <a:ln w="3175">
                            <a:noFill/>
                          </a:ln>
                          <a:latin typeface="Century Gothic" pitchFamily="34" charset="0"/>
                        </a:rPr>
                        <a:t>PASIVIDAD</a:t>
                      </a:r>
                      <a:endParaRPr lang="es-ES" sz="2000" b="1" dirty="0" smtClean="0">
                        <a:ln w="3175">
                          <a:noFill/>
                        </a:ln>
                        <a:latin typeface="Century Gothic" pitchFamily="34" charset="0"/>
                      </a:endParaRPr>
                    </a:p>
                  </p:txBody>
                </p:sp>
              </p:grpSp>
              <p:sp>
                <p:nvSpPr>
                  <p:cNvPr id="11" name="10 Rectángulo"/>
                  <p:cNvSpPr/>
                  <p:nvPr/>
                </p:nvSpPr>
                <p:spPr>
                  <a:xfrm>
                    <a:off x="467544" y="3789040"/>
                    <a:ext cx="8208912" cy="400110"/>
                  </a:xfrm>
                  <a:prstGeom prst="rect">
                    <a:avLst/>
                  </a:prstGeom>
                  <a:solidFill>
                    <a:srgbClr val="00B0F0"/>
                  </a:solidFill>
                  <a:ln>
                    <a:noFill/>
                  </a:ln>
                  <a:effectLst>
                    <a:glow rad="139700">
                      <a:schemeClr val="accent1">
                        <a:satMod val="175000"/>
                        <a:alpha val="40000"/>
                      </a:schemeClr>
                    </a:glow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1">
                    <a:schemeClr val="accent3"/>
                  </a:lnRef>
                  <a:fillRef idx="2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s-ES_tradnl" sz="2000" b="1" dirty="0" smtClean="0">
                        <a:solidFill>
                          <a:schemeClr val="dk1"/>
                        </a:solidFill>
                        <a:latin typeface="Century Gothic" pitchFamily="34" charset="0"/>
                        <a:cs typeface="+mn-cs"/>
                      </a:rPr>
                      <a:t>De la combinación de estas</a:t>
                    </a:r>
                    <a:r>
                      <a:rPr lang="es-ES" sz="2000" b="1" dirty="0" smtClean="0">
                        <a:solidFill>
                          <a:schemeClr val="dk1"/>
                        </a:solidFill>
                        <a:latin typeface="Century Gothic" pitchFamily="34" charset="0"/>
                        <a:cs typeface="+mn-cs"/>
                      </a:rPr>
                      <a:t> </a:t>
                    </a:r>
                    <a:r>
                      <a:rPr lang="es-ES_tradnl" sz="2000" b="1" dirty="0" smtClean="0">
                        <a:solidFill>
                          <a:schemeClr val="dk1"/>
                        </a:solidFill>
                        <a:latin typeface="Century Gothic" pitchFamily="34" charset="0"/>
                        <a:cs typeface="+mn-cs"/>
                      </a:rPr>
                      <a:t>variables surgen cuatro tipologías</a:t>
                    </a:r>
                    <a:endParaRPr lang="es-ES" sz="2000" b="1" dirty="0" smtClean="0">
                      <a:solidFill>
                        <a:schemeClr val="dk1"/>
                      </a:solidFill>
                      <a:latin typeface="Century Gothic" pitchFamily="34" charset="0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26" name="25 Flecha a la derecha con bandas"/>
            <p:cNvSpPr/>
            <p:nvPr/>
          </p:nvSpPr>
          <p:spPr>
            <a:xfrm rot="4193252">
              <a:off x="5418197" y="1470723"/>
              <a:ext cx="457488" cy="917079"/>
            </a:xfrm>
            <a:prstGeom prst="stripedRightArrow">
              <a:avLst>
                <a:gd name="adj1" fmla="val 34510"/>
                <a:gd name="adj2" fmla="val 40885"/>
              </a:avLst>
            </a:prstGeom>
            <a:solidFill>
              <a:srgbClr val="00FF00"/>
            </a:solidFill>
            <a:ln>
              <a:noFill/>
            </a:ln>
            <a:effectLst>
              <a:glow rad="139700">
                <a:srgbClr val="00FF00">
                  <a:alpha val="40000"/>
                </a:srgbClr>
              </a:glow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s-ES" sz="2400" b="1" dirty="0" smtClean="0">
                <a:solidFill>
                  <a:schemeClr val="dk1"/>
                </a:solidFill>
                <a:latin typeface="Century Gothic" pitchFamily="34" charset="0"/>
              </a:endParaRPr>
            </a:p>
          </p:txBody>
        </p:sp>
      </p:grpSp>
      <p:grpSp>
        <p:nvGrpSpPr>
          <p:cNvPr id="35" name="34 Grupo"/>
          <p:cNvGrpSpPr/>
          <p:nvPr/>
        </p:nvGrpSpPr>
        <p:grpSpPr>
          <a:xfrm>
            <a:off x="395536" y="3645024"/>
            <a:ext cx="7992888" cy="2616101"/>
            <a:chOff x="395536" y="3933056"/>
            <a:chExt cx="7992888" cy="2616101"/>
          </a:xfrm>
        </p:grpSpPr>
        <p:grpSp>
          <p:nvGrpSpPr>
            <p:cNvPr id="34" name="33 Grupo"/>
            <p:cNvGrpSpPr/>
            <p:nvPr/>
          </p:nvGrpSpPr>
          <p:grpSpPr>
            <a:xfrm>
              <a:off x="395536" y="3933056"/>
              <a:ext cx="7416824" cy="2616101"/>
              <a:chOff x="251520" y="3933056"/>
              <a:chExt cx="7416824" cy="2616101"/>
            </a:xfrm>
          </p:grpSpPr>
          <p:cxnSp>
            <p:nvCxnSpPr>
              <p:cNvPr id="30" name="29 Conector recto"/>
              <p:cNvCxnSpPr/>
              <p:nvPr/>
            </p:nvCxnSpPr>
            <p:spPr>
              <a:xfrm>
                <a:off x="4932040" y="4293096"/>
                <a:ext cx="0" cy="2232248"/>
              </a:xfrm>
              <a:prstGeom prst="line">
                <a:avLst/>
              </a:prstGeom>
              <a:ln w="57150">
                <a:solidFill>
                  <a:srgbClr val="FF3399"/>
                </a:solidFill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20" name="19 CuadroTexto"/>
              <p:cNvSpPr txBox="1"/>
              <p:nvPr/>
            </p:nvSpPr>
            <p:spPr>
              <a:xfrm>
                <a:off x="2627784" y="4869160"/>
                <a:ext cx="1800200" cy="489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ES_tradnl" sz="2400" b="1" dirty="0" smtClean="0">
                    <a:latin typeface="Century Gothic"/>
                    <a:ea typeface="Calibri"/>
                    <a:cs typeface="Times New Roman"/>
                  </a:rPr>
                  <a:t>Impetuoso</a:t>
                </a:r>
                <a:endParaRPr lang="es-ES" sz="1400" b="1" dirty="0"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21" name="20 CuadroTexto"/>
              <p:cNvSpPr txBox="1"/>
              <p:nvPr/>
            </p:nvSpPr>
            <p:spPr>
              <a:xfrm>
                <a:off x="4932040" y="4869160"/>
                <a:ext cx="2520280" cy="477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ES_tradnl" sz="2400" b="1" dirty="0" smtClean="0">
                    <a:latin typeface="Century Gothic"/>
                    <a:ea typeface="Calibri"/>
                    <a:cs typeface="Times New Roman"/>
                  </a:rPr>
                  <a:t>Persuasivo</a:t>
                </a:r>
                <a:endParaRPr lang="es-ES" sz="2400" b="1" dirty="0" smtClean="0">
                  <a:latin typeface="Century Gothic"/>
                  <a:ea typeface="Calibri"/>
                  <a:cs typeface="Times New Roman"/>
                </a:endParaRPr>
              </a:p>
            </p:txBody>
          </p:sp>
          <p:sp>
            <p:nvSpPr>
              <p:cNvPr id="22" name="21 CuadroTexto"/>
              <p:cNvSpPr txBox="1"/>
              <p:nvPr/>
            </p:nvSpPr>
            <p:spPr>
              <a:xfrm>
                <a:off x="2267744" y="5589240"/>
                <a:ext cx="2592288" cy="477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ES_tradnl" sz="2400" b="1" dirty="0" smtClean="0">
                    <a:latin typeface="Century Gothic"/>
                    <a:ea typeface="Calibri"/>
                    <a:cs typeface="Times New Roman"/>
                  </a:rPr>
                  <a:t>Perfeccionista</a:t>
                </a:r>
                <a:endParaRPr lang="es-ES" sz="2400" b="1" dirty="0" smtClean="0">
                  <a:latin typeface="Century Gothic"/>
                  <a:ea typeface="Calibri"/>
                  <a:cs typeface="Times New Roman"/>
                </a:endParaRPr>
              </a:p>
            </p:txBody>
          </p:sp>
          <p:sp>
            <p:nvSpPr>
              <p:cNvPr id="23" name="22 CuadroTexto"/>
              <p:cNvSpPr txBox="1"/>
              <p:nvPr/>
            </p:nvSpPr>
            <p:spPr>
              <a:xfrm>
                <a:off x="5004048" y="5589240"/>
                <a:ext cx="2448272" cy="477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ES_tradnl" sz="2400" b="1" dirty="0" smtClean="0">
                    <a:latin typeface="Century Gothic"/>
                    <a:ea typeface="Calibri"/>
                    <a:cs typeface="Times New Roman"/>
                  </a:rPr>
                  <a:t>Colaborador</a:t>
                </a:r>
                <a:endParaRPr lang="es-ES" sz="2400" b="1" dirty="0" smtClean="0">
                  <a:latin typeface="Century Gothic"/>
                  <a:ea typeface="Calibri"/>
                  <a:cs typeface="Times New Roman"/>
                </a:endParaRPr>
              </a:p>
            </p:txBody>
          </p:sp>
          <p:sp>
            <p:nvSpPr>
              <p:cNvPr id="27" name="26 CuadroTexto"/>
              <p:cNvSpPr txBox="1"/>
              <p:nvPr/>
            </p:nvSpPr>
            <p:spPr>
              <a:xfrm>
                <a:off x="251520" y="4293096"/>
                <a:ext cx="7416824" cy="507831"/>
              </a:xfrm>
              <a:prstGeom prst="rect">
                <a:avLst/>
              </a:prstGeom>
              <a:solidFill>
                <a:srgbClr val="00FF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b="1" dirty="0" smtClean="0">
                    <a:solidFill>
                      <a:srgbClr val="1F497D"/>
                    </a:solidFill>
                    <a:latin typeface="Century Gothic"/>
                    <a:ea typeface="Calibri"/>
                    <a:cs typeface="Times New Roman"/>
                  </a:rPr>
                  <a:t>	                             </a:t>
                </a:r>
                <a:r>
                  <a:rPr lang="es-ES_tradnl" b="1" dirty="0" smtClean="0">
                    <a:latin typeface="Century Gothic"/>
                    <a:ea typeface="Calibri"/>
                    <a:cs typeface="Times New Roman"/>
                  </a:rPr>
                  <a:t>TAREA</a:t>
                </a:r>
                <a:r>
                  <a:rPr lang="es-ES_tradnl" b="1" dirty="0" smtClean="0">
                    <a:solidFill>
                      <a:srgbClr val="1F497D"/>
                    </a:solidFill>
                    <a:latin typeface="Century Gothic"/>
                    <a:ea typeface="Calibri"/>
                    <a:cs typeface="Times New Roman"/>
                  </a:rPr>
                  <a:t>		               </a:t>
                </a:r>
                <a:r>
                  <a:rPr lang="es-ES_tradnl" b="1" dirty="0" smtClean="0">
                    <a:latin typeface="Century Gothic"/>
                    <a:ea typeface="Calibri"/>
                    <a:cs typeface="Times New Roman"/>
                  </a:rPr>
                  <a:t>GENTE</a:t>
                </a:r>
                <a:endParaRPr lang="es-ES" dirty="0"/>
              </a:p>
            </p:txBody>
          </p:sp>
          <p:sp>
            <p:nvSpPr>
              <p:cNvPr id="28" name="27 CuadroTexto"/>
              <p:cNvSpPr txBox="1"/>
              <p:nvPr/>
            </p:nvSpPr>
            <p:spPr>
              <a:xfrm>
                <a:off x="755576" y="3933056"/>
                <a:ext cx="1512168" cy="2616101"/>
              </a:xfrm>
              <a:prstGeom prst="rect">
                <a:avLst/>
              </a:prstGeom>
              <a:solidFill>
                <a:srgbClr val="FF3399"/>
              </a:solidFill>
            </p:spPr>
            <p:txBody>
              <a:bodyPr wrap="square" rtlCol="0">
                <a:spAutoFit/>
              </a:bodyPr>
              <a:lstStyle/>
              <a:p>
                <a:endParaRPr lang="es-ES_tradnl" b="1" dirty="0" smtClean="0">
                  <a:solidFill>
                    <a:srgbClr val="1F497D"/>
                  </a:solidFill>
                  <a:latin typeface="Century Gothic"/>
                  <a:ea typeface="Calibri"/>
                  <a:cs typeface="Times New Roman"/>
                </a:endParaRPr>
              </a:p>
              <a:p>
                <a:endParaRPr lang="es-ES_tradnl" b="1" dirty="0" smtClean="0">
                  <a:solidFill>
                    <a:srgbClr val="1F497D"/>
                  </a:solidFill>
                  <a:latin typeface="Century Gothic"/>
                  <a:ea typeface="Calibri"/>
                  <a:cs typeface="Times New Roman"/>
                </a:endParaRPr>
              </a:p>
              <a:p>
                <a:endParaRPr lang="es-ES_tradnl" b="1" dirty="0" smtClean="0">
                  <a:solidFill>
                    <a:srgbClr val="1F497D"/>
                  </a:solidFill>
                  <a:latin typeface="Century Gothic"/>
                  <a:ea typeface="Calibri"/>
                  <a:cs typeface="Times New Roman"/>
                </a:endParaRPr>
              </a:p>
              <a:p>
                <a:endParaRPr lang="es-ES_tradnl" sz="1400" b="1" dirty="0" smtClean="0">
                  <a:solidFill>
                    <a:srgbClr val="1F497D"/>
                  </a:solidFill>
                  <a:latin typeface="Century Gothic"/>
                  <a:ea typeface="Calibri"/>
                  <a:cs typeface="Times New Roman"/>
                </a:endParaRPr>
              </a:p>
              <a:p>
                <a:pPr algn="ctr"/>
                <a:r>
                  <a:rPr lang="es-ES_tradnl" b="1" dirty="0" smtClean="0">
                    <a:latin typeface="Century Gothic"/>
                    <a:ea typeface="Calibri"/>
                    <a:cs typeface="Times New Roman"/>
                  </a:rPr>
                  <a:t>ACTIVO</a:t>
                </a:r>
              </a:p>
              <a:p>
                <a:pPr algn="ctr"/>
                <a:endParaRPr lang="es-ES_tradnl" sz="2400" b="1" dirty="0" smtClean="0">
                  <a:solidFill>
                    <a:srgbClr val="1F497D"/>
                  </a:solidFill>
                  <a:latin typeface="Century Gothic"/>
                  <a:ea typeface="Calibri"/>
                  <a:cs typeface="Times New Roman"/>
                </a:endParaRPr>
              </a:p>
              <a:p>
                <a:pPr algn="ctr"/>
                <a:r>
                  <a:rPr lang="es-ES_tradnl" b="1" dirty="0" smtClean="0">
                    <a:latin typeface="Century Gothic"/>
                    <a:ea typeface="Calibri"/>
                    <a:cs typeface="Times New Roman"/>
                  </a:rPr>
                  <a:t>PASIVO</a:t>
                </a:r>
              </a:p>
              <a:p>
                <a:endParaRPr lang="es-ES_tradnl" b="1" dirty="0" smtClean="0">
                  <a:solidFill>
                    <a:srgbClr val="1F497D"/>
                  </a:solidFill>
                  <a:latin typeface="Century Gothic"/>
                  <a:cs typeface="Times New Roman"/>
                </a:endParaRPr>
              </a:p>
              <a:p>
                <a:endParaRPr lang="es-ES" dirty="0"/>
              </a:p>
            </p:txBody>
          </p:sp>
        </p:grpSp>
        <p:cxnSp>
          <p:nvCxnSpPr>
            <p:cNvPr id="31" name="30 Conector recto"/>
            <p:cNvCxnSpPr/>
            <p:nvPr/>
          </p:nvCxnSpPr>
          <p:spPr>
            <a:xfrm flipH="1">
              <a:off x="899592" y="5517232"/>
              <a:ext cx="7488832" cy="0"/>
            </a:xfrm>
            <a:prstGeom prst="line">
              <a:avLst/>
            </a:prstGeom>
            <a:ln>
              <a:solidFill>
                <a:srgbClr val="00FF00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907704" y="116632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b="1" spc="100" dirty="0" smtClean="0">
                <a:solidFill>
                  <a:schemeClr val="tx2"/>
                </a:solidFill>
                <a:latin typeface="Arial Black" pitchFamily="34" charset="0"/>
                <a:cs typeface="+mn-cs"/>
              </a:rPr>
              <a:t>ESTILOS MOTIVACIONALES</a:t>
            </a:r>
            <a:endParaRPr lang="es-ES" sz="2400" b="1" spc="100" dirty="0">
              <a:solidFill>
                <a:schemeClr val="tx2"/>
              </a:solidFill>
              <a:latin typeface="Arial Black" pitchFamily="34" charset="0"/>
              <a:cs typeface="+mn-cs"/>
            </a:endParaRPr>
          </a:p>
        </p:txBody>
      </p:sp>
      <p:grpSp>
        <p:nvGrpSpPr>
          <p:cNvPr id="47" name="46 Grupo"/>
          <p:cNvGrpSpPr/>
          <p:nvPr/>
        </p:nvGrpSpPr>
        <p:grpSpPr>
          <a:xfrm>
            <a:off x="72008" y="620688"/>
            <a:ext cx="9036496" cy="5760640"/>
            <a:chOff x="0" y="548680"/>
            <a:chExt cx="9036496" cy="5976664"/>
          </a:xfrm>
        </p:grpSpPr>
        <p:grpSp>
          <p:nvGrpSpPr>
            <p:cNvPr id="44" name="43 Grupo"/>
            <p:cNvGrpSpPr/>
            <p:nvPr/>
          </p:nvGrpSpPr>
          <p:grpSpPr>
            <a:xfrm>
              <a:off x="0" y="3841447"/>
              <a:ext cx="9036496" cy="1315745"/>
              <a:chOff x="0" y="3970074"/>
              <a:chExt cx="9036496" cy="1315745"/>
            </a:xfrm>
          </p:grpSpPr>
          <p:sp>
            <p:nvSpPr>
              <p:cNvPr id="23" name="22 CuadroTexto"/>
              <p:cNvSpPr txBox="1"/>
              <p:nvPr/>
            </p:nvSpPr>
            <p:spPr>
              <a:xfrm>
                <a:off x="1763688" y="3970074"/>
                <a:ext cx="2952328" cy="1310615"/>
              </a:xfrm>
              <a:prstGeom prst="chevron">
                <a:avLst>
                  <a:gd name="adj" fmla="val 16257"/>
                </a:avLst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28600" indent="-228600">
                  <a:lnSpc>
                    <a:spcPts val="1900"/>
                  </a:lnSpc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350" b="1" dirty="0" smtClean="0">
                    <a:latin typeface="Century Gothic" pitchFamily="34" charset="0"/>
                    <a:ea typeface="Calibri"/>
                    <a:cs typeface="Times New Roman"/>
                  </a:rPr>
                  <a:t> </a:t>
                </a: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. Analítico/detallista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228600" indent="-228600">
                  <a:lnSpc>
                    <a:spcPts val="1900"/>
                  </a:lnSpc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 . Planificador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228600" indent="-228600">
                  <a:lnSpc>
                    <a:spcPts val="1900"/>
                  </a:lnSpc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 . Observador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342900" lvl="0" indent="-342900">
                  <a:lnSpc>
                    <a:spcPts val="1900"/>
                  </a:lnSpc>
                  <a:spcAft>
                    <a:spcPts val="0"/>
                  </a:spcAft>
                  <a:buFont typeface="Symbol"/>
                  <a:buNone/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 . Preciso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228600" indent="-228600">
                  <a:lnSpc>
                    <a:spcPts val="1900"/>
                  </a:lnSpc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 . Se toma su tiempo</a:t>
                </a:r>
              </a:p>
            </p:txBody>
          </p:sp>
          <p:sp>
            <p:nvSpPr>
              <p:cNvPr id="24" name="23 CuadroTexto"/>
              <p:cNvSpPr txBox="1"/>
              <p:nvPr/>
            </p:nvSpPr>
            <p:spPr>
              <a:xfrm>
                <a:off x="4499992" y="3970074"/>
                <a:ext cx="2376264" cy="1315745"/>
              </a:xfrm>
              <a:prstGeom prst="chevron">
                <a:avLst>
                  <a:gd name="adj" fmla="val 16540"/>
                </a:avLst>
              </a:prstGeom>
              <a:solidFill>
                <a:srgbClr val="FFFF99"/>
              </a:solidFill>
              <a:ln>
                <a:solidFill>
                  <a:srgbClr val="FFFF99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28600" indent="-228600"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. Tareas de análisis/detalle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228600" indent="-228600"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300" b="1" dirty="0" smtClean="0">
                    <a:latin typeface="Century Gothic" pitchFamily="34" charset="0"/>
                    <a:ea typeface="Calibri"/>
                    <a:cs typeface="Times New Roman"/>
                  </a:rPr>
                  <a:t>. Buscar calidad</a:t>
                </a:r>
                <a:endParaRPr lang="es-ES" sz="13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342900" lvl="0" indent="-342900">
                  <a:spcAft>
                    <a:spcPts val="0"/>
                  </a:spcAft>
                  <a:buFont typeface="Symbol"/>
                  <a:buNone/>
                  <a:tabLst>
                    <a:tab pos="228600" algn="l"/>
                  </a:tabLst>
                </a:pPr>
                <a:r>
                  <a:rPr lang="es-ES_tradnl" sz="1250" b="1" dirty="0" smtClean="0">
                    <a:latin typeface="Century Gothic" pitchFamily="34" charset="0"/>
                    <a:ea typeface="Calibri"/>
                    <a:cs typeface="Times New Roman"/>
                  </a:rPr>
                  <a:t>. Planificar/Programar</a:t>
                </a:r>
                <a:endParaRPr lang="es-ES" sz="125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342900" lvl="0" indent="-342900">
                  <a:spcAft>
                    <a:spcPts val="0"/>
                  </a:spcAft>
                  <a:buFont typeface="Symbol"/>
                  <a:buNone/>
                  <a:tabLst>
                    <a:tab pos="228600" algn="l"/>
                  </a:tabLst>
                </a:pPr>
                <a:r>
                  <a:rPr lang="es-ES_tradnl" sz="1300" b="1" dirty="0" smtClean="0">
                    <a:latin typeface="Century Gothic" pitchFamily="34" charset="0"/>
                    <a:ea typeface="Calibri"/>
                    <a:cs typeface="Times New Roman"/>
                  </a:rPr>
                  <a:t>. Tareas de largo plazo</a:t>
                </a:r>
                <a:endParaRPr lang="es-ES" sz="1300" b="1" dirty="0">
                  <a:latin typeface="Century Gothic" pitchFamily="34" charset="0"/>
                  <a:ea typeface="Calibri"/>
                  <a:cs typeface="Times New Roman"/>
                </a:endParaRPr>
              </a:p>
            </p:txBody>
          </p:sp>
          <p:sp>
            <p:nvSpPr>
              <p:cNvPr id="25" name="24 CuadroTexto"/>
              <p:cNvSpPr txBox="1"/>
              <p:nvPr/>
            </p:nvSpPr>
            <p:spPr>
              <a:xfrm>
                <a:off x="6660232" y="3970074"/>
                <a:ext cx="2376264" cy="1311128"/>
              </a:xfrm>
              <a:prstGeom prst="chevron">
                <a:avLst>
                  <a:gd name="adj" fmla="val 1654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180000" indent="-228600"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320" b="1" dirty="0" smtClean="0">
                    <a:latin typeface="Century Gothic" pitchFamily="34" charset="0"/>
                    <a:ea typeface="Calibri"/>
                    <a:cs typeface="Times New Roman"/>
                  </a:rPr>
                  <a:t>. Incertidumbre/</a:t>
                </a:r>
              </a:p>
              <a:p>
                <a:pPr marL="180000" indent="-228600"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320" b="1" dirty="0" smtClean="0">
                    <a:latin typeface="Century Gothic" pitchFamily="34" charset="0"/>
                    <a:ea typeface="Calibri"/>
                    <a:cs typeface="Times New Roman"/>
                  </a:rPr>
                  <a:t>    Riesgo</a:t>
                </a:r>
                <a:endParaRPr lang="es-ES" sz="132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180000" indent="-228600"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320" b="1" dirty="0" smtClean="0">
                    <a:latin typeface="Century Gothic" pitchFamily="34" charset="0"/>
                    <a:ea typeface="Calibri"/>
                    <a:cs typeface="Times New Roman"/>
                  </a:rPr>
                  <a:t>. Presión del tiempo</a:t>
                </a:r>
                <a:endParaRPr lang="es-ES" sz="132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180000" indent="-228600"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320" b="1" dirty="0" smtClean="0">
                    <a:latin typeface="Century Gothic" pitchFamily="34" charset="0"/>
                    <a:ea typeface="Calibri"/>
                    <a:cs typeface="Times New Roman"/>
                  </a:rPr>
                  <a:t>. Improvisar</a:t>
                </a:r>
                <a:endParaRPr lang="es-ES" sz="132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180000" indent="-228600"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320" b="1" dirty="0" smtClean="0">
                    <a:latin typeface="Century Gothic" pitchFamily="34" charset="0"/>
                    <a:ea typeface="Calibri"/>
                    <a:cs typeface="Times New Roman"/>
                  </a:rPr>
                  <a:t>. Interacción con la gente</a:t>
                </a:r>
                <a:endParaRPr lang="es-ES" sz="132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</p:txBody>
          </p:sp>
          <p:sp>
            <p:nvSpPr>
              <p:cNvPr id="12" name="11 CuadroTexto"/>
              <p:cNvSpPr txBox="1"/>
              <p:nvPr/>
            </p:nvSpPr>
            <p:spPr>
              <a:xfrm>
                <a:off x="0" y="4437112"/>
                <a:ext cx="2088232" cy="369332"/>
              </a:xfrm>
              <a:prstGeom prst="homePlate">
                <a:avLst>
                  <a:gd name="adj" fmla="val 19636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AR" b="1" i="1" dirty="0" smtClean="0">
                    <a:latin typeface="Century Gothic"/>
                    <a:ea typeface="Calibri"/>
                    <a:cs typeface="Times New Roman"/>
                  </a:rPr>
                  <a:t>PERFECCIONISTA</a:t>
                </a:r>
                <a:endParaRPr lang="es-ES" dirty="0"/>
              </a:p>
            </p:txBody>
          </p:sp>
        </p:grpSp>
        <p:grpSp>
          <p:nvGrpSpPr>
            <p:cNvPr id="26" name="25 Grupo"/>
            <p:cNvGrpSpPr/>
            <p:nvPr/>
          </p:nvGrpSpPr>
          <p:grpSpPr>
            <a:xfrm>
              <a:off x="251520" y="1124744"/>
              <a:ext cx="8784976" cy="1331134"/>
              <a:chOff x="251520" y="1556792"/>
              <a:chExt cx="8784976" cy="1331134"/>
            </a:xfrm>
          </p:grpSpPr>
          <p:grpSp>
            <p:nvGrpSpPr>
              <p:cNvPr id="17" name="16 Grupo"/>
              <p:cNvGrpSpPr/>
              <p:nvPr/>
            </p:nvGrpSpPr>
            <p:grpSpPr>
              <a:xfrm>
                <a:off x="1763688" y="1556792"/>
                <a:ext cx="7272808" cy="1331134"/>
                <a:chOff x="1691680" y="1844824"/>
                <a:chExt cx="7272808" cy="1331134"/>
              </a:xfrm>
            </p:grpSpPr>
            <p:sp>
              <p:nvSpPr>
                <p:cNvPr id="14" name="13 CuadroTexto"/>
                <p:cNvSpPr txBox="1"/>
                <p:nvPr/>
              </p:nvSpPr>
              <p:spPr>
                <a:xfrm>
                  <a:off x="1691680" y="1844824"/>
                  <a:ext cx="2952328" cy="1331134"/>
                </a:xfrm>
                <a:prstGeom prst="chevron">
                  <a:avLst>
                    <a:gd name="adj" fmla="val 16257"/>
                  </a:avLst>
                </a:prstGeom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marL="342900" lvl="0" indent="-342900">
                    <a:lnSpc>
                      <a:spcPct val="115000"/>
                    </a:lnSpc>
                    <a:spcAft>
                      <a:spcPts val="0"/>
                    </a:spcAft>
                    <a:buFont typeface="Symbol"/>
                    <a:buNone/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Vigoroso/Competitivo</a:t>
                  </a: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342900" lvl="0" indent="-342900">
                    <a:lnSpc>
                      <a:spcPct val="115000"/>
                    </a:lnSpc>
                    <a:spcAft>
                      <a:spcPts val="0"/>
                    </a:spcAft>
                    <a:buFont typeface="Symbol"/>
                    <a:buNone/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Emprendedor/</a:t>
                  </a:r>
                </a:p>
                <a:p>
                  <a:pPr marL="342900" lvl="0" indent="-342900">
                    <a:lnSpc>
                      <a:spcPct val="115000"/>
                    </a:lnSpc>
                    <a:spcAft>
                      <a:spcPts val="0"/>
                    </a:spcAft>
                    <a:buFont typeface="Symbol"/>
                    <a:buNone/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      Abierto al cambio </a:t>
                  </a: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342900" lvl="0" indent="-342900">
                    <a:lnSpc>
                      <a:spcPct val="115000"/>
                    </a:lnSpc>
                    <a:spcAft>
                      <a:spcPts val="0"/>
                    </a:spcAft>
                    <a:buFont typeface="Symbol"/>
                    <a:buNone/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Impaciente. Planifica poco</a:t>
                  </a:r>
                  <a:endParaRPr lang="es-ES" sz="1400" b="1" dirty="0">
                    <a:latin typeface="Century Gothic" pitchFamily="34" charset="0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5" name="14 CuadroTexto"/>
                <p:cNvSpPr txBox="1"/>
                <p:nvPr/>
              </p:nvSpPr>
              <p:spPr>
                <a:xfrm>
                  <a:off x="4427984" y="1844824"/>
                  <a:ext cx="2376264" cy="1331134"/>
                </a:xfrm>
                <a:prstGeom prst="chevron">
                  <a:avLst>
                    <a:gd name="adj" fmla="val 16540"/>
                  </a:avLst>
                </a:prstGeom>
                <a:solidFill>
                  <a:srgbClr val="FFFF99"/>
                </a:solidFill>
                <a:ln>
                  <a:solidFill>
                    <a:srgbClr val="FFFF99"/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marL="342900" indent="-3429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solidFill>
                        <a:schemeClr val="dk1"/>
                      </a:solidFill>
                      <a:latin typeface="Century Gothic" pitchFamily="34" charset="0"/>
                      <a:ea typeface="Calibri"/>
                      <a:cs typeface="Times New Roman"/>
                    </a:rPr>
                    <a:t>. La acción</a:t>
                  </a:r>
                  <a:endParaRPr lang="es-ES" sz="1400" b="1" dirty="0" smtClean="0">
                    <a:solidFill>
                      <a:schemeClr val="dk1"/>
                    </a:solidFill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342900" indent="-3429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solidFill>
                        <a:schemeClr val="dk1"/>
                      </a:solidFill>
                      <a:latin typeface="Century Gothic" pitchFamily="34" charset="0"/>
                      <a:ea typeface="Calibri"/>
                      <a:cs typeface="Times New Roman"/>
                    </a:rPr>
                    <a:t>. Tareas difíciles</a:t>
                  </a:r>
                  <a:endParaRPr lang="es-ES" sz="1400" b="1" dirty="0" smtClean="0">
                    <a:solidFill>
                      <a:schemeClr val="dk1"/>
                    </a:solidFill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342900" indent="-342900">
                    <a:lnSpc>
                      <a:spcPct val="115000"/>
                    </a:lnSpc>
                    <a:spcAft>
                      <a:spcPts val="0"/>
                    </a:spcAft>
                  </a:pPr>
                  <a:r>
                    <a:rPr lang="es-ES_tradnl" sz="1400" b="1" dirty="0" smtClean="0">
                      <a:solidFill>
                        <a:schemeClr val="dk1"/>
                      </a:solidFill>
                      <a:latin typeface="Century Gothic" pitchFamily="34" charset="0"/>
                      <a:ea typeface="Calibri"/>
                      <a:cs typeface="Times New Roman"/>
                    </a:rPr>
                    <a:t>. Resultados rápidos </a:t>
                  </a:r>
                  <a:endParaRPr lang="es-ES" sz="1400" b="1" dirty="0" smtClean="0">
                    <a:solidFill>
                      <a:schemeClr val="dk1"/>
                    </a:solidFill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342900" indent="-3429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solidFill>
                        <a:schemeClr val="dk1"/>
                      </a:solidFill>
                      <a:latin typeface="Century Gothic" pitchFamily="34" charset="0"/>
                      <a:ea typeface="Calibri"/>
                      <a:cs typeface="Times New Roman"/>
                    </a:rPr>
                    <a:t>. Las novedades/el cambio</a:t>
                  </a:r>
                  <a:endParaRPr lang="es-ES" sz="1400" b="1" dirty="0" smtClean="0">
                    <a:solidFill>
                      <a:schemeClr val="dk1"/>
                    </a:solidFill>
                    <a:latin typeface="Century Gothic" pitchFamily="34" charset="0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16" name="15 CuadroTexto"/>
                <p:cNvSpPr txBox="1"/>
                <p:nvPr/>
              </p:nvSpPr>
              <p:spPr>
                <a:xfrm>
                  <a:off x="6588224" y="1844824"/>
                  <a:ext cx="2376264" cy="1331134"/>
                </a:xfrm>
                <a:prstGeom prst="chevron">
                  <a:avLst>
                    <a:gd name="adj" fmla="val 16540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marL="342900" indent="-3429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Parlamentar.</a:t>
                  </a: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342900" indent="-3429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Tareas de detalle.</a:t>
                  </a: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342900" indent="-3429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Planificar. </a:t>
                  </a: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342900" indent="-3429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Esperar.</a:t>
                  </a:r>
                </a:p>
                <a:p>
                  <a:pPr marL="342900" indent="-3429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</p:txBody>
            </p:sp>
          </p:grpSp>
          <p:sp>
            <p:nvSpPr>
              <p:cNvPr id="10" name="9 CuadroTexto"/>
              <p:cNvSpPr txBox="1"/>
              <p:nvPr/>
            </p:nvSpPr>
            <p:spPr>
              <a:xfrm>
                <a:off x="251520" y="1988840"/>
                <a:ext cx="1800200" cy="369332"/>
              </a:xfrm>
              <a:prstGeom prst="homePlate">
                <a:avLst>
                  <a:gd name="adj" fmla="val 28979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AR" b="1" i="1" dirty="0" smtClean="0">
                    <a:latin typeface="Century Gothic"/>
                    <a:ea typeface="Calibri"/>
                    <a:cs typeface="Times New Roman"/>
                  </a:rPr>
                  <a:t>IMPETUOSO</a:t>
                </a:r>
                <a:endParaRPr lang="es-ES" dirty="0"/>
              </a:p>
            </p:txBody>
          </p:sp>
        </p:grpSp>
        <p:grpSp>
          <p:nvGrpSpPr>
            <p:cNvPr id="43" name="42 Grupo"/>
            <p:cNvGrpSpPr/>
            <p:nvPr/>
          </p:nvGrpSpPr>
          <p:grpSpPr>
            <a:xfrm>
              <a:off x="179512" y="2492896"/>
              <a:ext cx="8856984" cy="1331134"/>
              <a:chOff x="179512" y="2564904"/>
              <a:chExt cx="8856984" cy="1331134"/>
            </a:xfrm>
          </p:grpSpPr>
          <p:sp>
            <p:nvSpPr>
              <p:cNvPr id="19" name="18 CuadroTexto"/>
              <p:cNvSpPr txBox="1"/>
              <p:nvPr/>
            </p:nvSpPr>
            <p:spPr>
              <a:xfrm>
                <a:off x="1763688" y="2564904"/>
                <a:ext cx="2952328" cy="1322286"/>
              </a:xfrm>
              <a:prstGeom prst="chevron">
                <a:avLst>
                  <a:gd name="adj" fmla="val 16257"/>
                </a:avLst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15000"/>
                  </a:lnSpc>
                  <a:spcAft>
                    <a:spcPts val="0"/>
                  </a:spcAft>
                  <a:buFont typeface="Symbol"/>
                  <a:buNone/>
                  <a:tabLst>
                    <a:tab pos="228600" algn="l"/>
                  </a:tabLst>
                </a:pPr>
                <a:endParaRPr lang="es-ES_tradnl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0"/>
                  </a:spcAft>
                  <a:buFont typeface="Symbol"/>
                  <a:buNone/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. Entrador.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228600" indent="-228600">
                  <a:lnSpc>
                    <a:spcPct val="115000"/>
                  </a:lnSpc>
                  <a:spcAft>
                    <a:spcPts val="0"/>
                  </a:spcAft>
                  <a:buFont typeface="Arial" pitchFamily="34" charset="0"/>
                  <a:buNone/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. Conversador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228600" indent="-228600">
                  <a:lnSpc>
                    <a:spcPct val="115000"/>
                  </a:lnSpc>
                  <a:spcAft>
                    <a:spcPts val="0"/>
                  </a:spcAft>
                  <a:buFont typeface="Arial" pitchFamily="34" charset="0"/>
                  <a:buNone/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. Confiado en sí mismo</a:t>
                </a:r>
              </a:p>
              <a:p>
                <a:pPr marL="228600" indent="-228600">
                  <a:lnSpc>
                    <a:spcPct val="115000"/>
                  </a:lnSpc>
                  <a:spcAft>
                    <a:spcPts val="0"/>
                  </a:spcAft>
                  <a:buFont typeface="Arial" pitchFamily="34" charset="0"/>
                  <a:buNone/>
                  <a:tabLst>
                    <a:tab pos="228600" algn="l"/>
                  </a:tabLst>
                </a:pPr>
                <a:endParaRPr lang="es-ES_tradnl" sz="35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228600" indent="-228600">
                  <a:lnSpc>
                    <a:spcPct val="115000"/>
                  </a:lnSpc>
                  <a:spcAft>
                    <a:spcPts val="0"/>
                  </a:spcAft>
                  <a:buFont typeface="Arial" pitchFamily="34" charset="0"/>
                  <a:buNone/>
                  <a:tabLst>
                    <a:tab pos="228600" algn="l"/>
                  </a:tabLst>
                </a:pPr>
                <a:endParaRPr lang="es-AR" sz="10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</p:txBody>
          </p:sp>
          <p:sp>
            <p:nvSpPr>
              <p:cNvPr id="20" name="19 CuadroTexto"/>
              <p:cNvSpPr txBox="1"/>
              <p:nvPr/>
            </p:nvSpPr>
            <p:spPr>
              <a:xfrm>
                <a:off x="4499992" y="2564904"/>
                <a:ext cx="2376264" cy="1327608"/>
              </a:xfrm>
              <a:prstGeom prst="chevron">
                <a:avLst>
                  <a:gd name="adj" fmla="val 16540"/>
                </a:avLst>
              </a:prstGeom>
              <a:solidFill>
                <a:srgbClr val="FFFF99"/>
              </a:solidFill>
              <a:ln>
                <a:solidFill>
                  <a:srgbClr val="FFFF99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180975" indent="-180975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ES_tradnl" sz="1380" b="1" dirty="0" smtClean="0">
                    <a:latin typeface="Century Gothic" pitchFamily="34" charset="0"/>
                    <a:ea typeface="Calibri"/>
                    <a:cs typeface="Times New Roman"/>
                  </a:rPr>
                  <a:t>. Tratar con la gente. </a:t>
                </a:r>
                <a:endParaRPr lang="es-ES" sz="138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180975" indent="-180975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ES_tradnl" sz="1380" b="1" dirty="0" smtClean="0">
                    <a:latin typeface="Century Gothic" pitchFamily="34" charset="0"/>
                    <a:ea typeface="Calibri"/>
                    <a:cs typeface="Times New Roman"/>
                  </a:rPr>
                  <a:t>. </a:t>
                </a:r>
                <a:r>
                  <a:rPr lang="es-ES_tradnl" sz="1420" b="1" dirty="0" smtClean="0">
                    <a:latin typeface="Century Gothic" pitchFamily="34" charset="0"/>
                    <a:ea typeface="Calibri"/>
                    <a:cs typeface="Times New Roman"/>
                  </a:rPr>
                  <a:t>Hacer sociales</a:t>
                </a: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.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180975" indent="-180975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s-ES_tradnl" sz="1380" b="1" dirty="0" smtClean="0">
                    <a:latin typeface="Century Gothic" pitchFamily="34" charset="0"/>
                    <a:ea typeface="Calibri"/>
                    <a:cs typeface="Times New Roman"/>
                  </a:rPr>
                  <a:t>. Convencer/Vender</a:t>
                </a:r>
                <a:r>
                  <a:rPr lang="es-ES" sz="1380" b="1" dirty="0" smtClean="0">
                    <a:latin typeface="Century Gothic" pitchFamily="34" charset="0"/>
                    <a:ea typeface="Calibri"/>
                    <a:cs typeface="Times New Roman"/>
                  </a:rPr>
                  <a:t> </a:t>
                </a: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Mostrarse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180975" lvl="0" indent="-180975">
                  <a:lnSpc>
                    <a:spcPct val="115000"/>
                  </a:lnSpc>
                  <a:spcAft>
                    <a:spcPts val="0"/>
                  </a:spcAft>
                  <a:buFont typeface="Symbol"/>
                  <a:buNone/>
                </a:pPr>
                <a:r>
                  <a:rPr lang="es-ES_tradnl" sz="1380" b="1" dirty="0" smtClean="0">
                    <a:latin typeface="Century Gothic" pitchFamily="34" charset="0"/>
                    <a:ea typeface="Calibri"/>
                    <a:cs typeface="Times New Roman"/>
                  </a:rPr>
                  <a:t>. </a:t>
                </a:r>
                <a:r>
                  <a:rPr lang="es-ES_tradnl" sz="1420" b="1" dirty="0" smtClean="0">
                    <a:latin typeface="Century Gothic" pitchFamily="34" charset="0"/>
                    <a:ea typeface="Calibri"/>
                    <a:cs typeface="Times New Roman"/>
                  </a:rPr>
                  <a:t>Crear consenso</a:t>
                </a:r>
                <a:endParaRPr lang="es-ES" sz="142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</p:txBody>
          </p:sp>
          <p:sp>
            <p:nvSpPr>
              <p:cNvPr id="21" name="20 CuadroTexto"/>
              <p:cNvSpPr txBox="1"/>
              <p:nvPr/>
            </p:nvSpPr>
            <p:spPr>
              <a:xfrm>
                <a:off x="6660232" y="2564904"/>
                <a:ext cx="2376264" cy="1331134"/>
              </a:xfrm>
              <a:prstGeom prst="chevron">
                <a:avLst>
                  <a:gd name="adj" fmla="val 1654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28600" indent="-228600">
                  <a:lnSpc>
                    <a:spcPct val="115000"/>
                  </a:lnSpc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. Papeleo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228600" indent="-228600">
                  <a:lnSpc>
                    <a:spcPct val="115000"/>
                  </a:lnSpc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. Planificar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228600" indent="-228600">
                  <a:lnSpc>
                    <a:spcPct val="115000"/>
                  </a:lnSpc>
                  <a:spcAft>
                    <a:spcPts val="0"/>
                  </a:spcAft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. Tareas rutinarias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0"/>
                  </a:spcAft>
                  <a:buFont typeface="Symbol"/>
                  <a:buNone/>
                  <a:tabLst>
                    <a:tab pos="228600" algn="l"/>
                  </a:tabLst>
                </a:pPr>
                <a:r>
                  <a:rPr lang="es-ES_tradnl" sz="1400" b="1" dirty="0" smtClean="0">
                    <a:latin typeface="Century Gothic" pitchFamily="34" charset="0"/>
                    <a:ea typeface="Calibri"/>
                    <a:cs typeface="Times New Roman"/>
                  </a:rPr>
                  <a:t>. No tener contacto con la gente</a:t>
                </a:r>
                <a:endParaRPr lang="es-ES" sz="1400" b="1" dirty="0" smtClean="0">
                  <a:latin typeface="Century Gothic" pitchFamily="34" charset="0"/>
                  <a:ea typeface="Calibri"/>
                  <a:cs typeface="Times New Roman"/>
                </a:endParaRPr>
              </a:p>
            </p:txBody>
          </p:sp>
          <p:sp>
            <p:nvSpPr>
              <p:cNvPr id="11" name="10 CuadroTexto"/>
              <p:cNvSpPr txBox="1"/>
              <p:nvPr/>
            </p:nvSpPr>
            <p:spPr>
              <a:xfrm>
                <a:off x="179512" y="2996952"/>
                <a:ext cx="1872208" cy="369332"/>
              </a:xfrm>
              <a:prstGeom prst="homePlate">
                <a:avLst>
                  <a:gd name="adj" fmla="val 19636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AR" b="1" i="1" dirty="0" smtClean="0">
                    <a:latin typeface="Century Gothic"/>
                    <a:ea typeface="Calibri"/>
                    <a:cs typeface="Times New Roman"/>
                  </a:rPr>
                  <a:t>PERSUASIVO</a:t>
                </a:r>
                <a:endParaRPr lang="es-ES" dirty="0"/>
              </a:p>
            </p:txBody>
          </p:sp>
        </p:grpSp>
        <p:grpSp>
          <p:nvGrpSpPr>
            <p:cNvPr id="46" name="45 Grupo"/>
            <p:cNvGrpSpPr/>
            <p:nvPr/>
          </p:nvGrpSpPr>
          <p:grpSpPr>
            <a:xfrm>
              <a:off x="395536" y="548680"/>
              <a:ext cx="8424936" cy="915374"/>
              <a:chOff x="395536" y="548680"/>
              <a:chExt cx="8424936" cy="915374"/>
            </a:xfrm>
          </p:grpSpPr>
          <p:sp>
            <p:nvSpPr>
              <p:cNvPr id="30" name="29 Flecha a la derecha con bandas"/>
              <p:cNvSpPr/>
              <p:nvPr/>
            </p:nvSpPr>
            <p:spPr>
              <a:xfrm>
                <a:off x="1187624" y="692696"/>
                <a:ext cx="720080" cy="288032"/>
              </a:xfrm>
              <a:prstGeom prst="stripedRightArrow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" name="5 CuadroTexto"/>
              <p:cNvSpPr txBox="1"/>
              <p:nvPr/>
            </p:nvSpPr>
            <p:spPr>
              <a:xfrm>
                <a:off x="395536" y="548680"/>
                <a:ext cx="936104" cy="915374"/>
              </a:xfrm>
              <a:prstGeom prst="downArrowCallout">
                <a:avLst>
                  <a:gd name="adj1" fmla="val 25000"/>
                  <a:gd name="adj2" fmla="val 25000"/>
                  <a:gd name="adj3" fmla="val 25000"/>
                  <a:gd name="adj4" fmla="val 6497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s-ES_tradnl" b="1" i="1" dirty="0" smtClean="0">
                    <a:latin typeface="Century Gothic"/>
                    <a:ea typeface="Calibri"/>
                    <a:cs typeface="Times New Roman"/>
                  </a:rPr>
                  <a:t>TIPO</a:t>
                </a: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es-ES" sz="600" dirty="0"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7" name="6 CuadroTexto"/>
              <p:cNvSpPr txBox="1"/>
              <p:nvPr/>
            </p:nvSpPr>
            <p:spPr>
              <a:xfrm>
                <a:off x="1979712" y="548680"/>
                <a:ext cx="2376264" cy="583662"/>
              </a:xfrm>
              <a:prstGeom prst="downArrowCallou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ES_tradnl" b="1" i="1" dirty="0" smtClean="0">
                    <a:solidFill>
                      <a:schemeClr val="tx1"/>
                    </a:solidFill>
                    <a:latin typeface="Century Gothic"/>
                    <a:ea typeface="Calibri"/>
                    <a:cs typeface="Times New Roman"/>
                  </a:rPr>
                  <a:t>CARACTERÍSTICAS</a:t>
                </a:r>
                <a:endParaRPr lang="es-ES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endParaRPr>
              </a:p>
            </p:txBody>
          </p:sp>
          <p:sp>
            <p:nvSpPr>
              <p:cNvPr id="8" name="7 CuadroTexto"/>
              <p:cNvSpPr txBox="1"/>
              <p:nvPr/>
            </p:nvSpPr>
            <p:spPr>
              <a:xfrm>
                <a:off x="4932040" y="548680"/>
                <a:ext cx="1656184" cy="629436"/>
              </a:xfrm>
              <a:prstGeom prst="downArrowCallou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ES_tradnl" b="1" i="1" dirty="0" smtClean="0">
                    <a:solidFill>
                      <a:schemeClr val="tx1"/>
                    </a:solidFill>
                    <a:latin typeface="Century Gothic"/>
                    <a:ea typeface="Calibri"/>
                    <a:cs typeface="Times New Roman"/>
                  </a:rPr>
                  <a:t>LO MOTIVA</a:t>
                </a:r>
                <a:endParaRPr lang="es-ES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endParaRPr>
              </a:p>
            </p:txBody>
          </p:sp>
          <p:sp>
            <p:nvSpPr>
              <p:cNvPr id="9" name="8 CuadroTexto"/>
              <p:cNvSpPr txBox="1"/>
              <p:nvPr/>
            </p:nvSpPr>
            <p:spPr>
              <a:xfrm>
                <a:off x="6948264" y="548680"/>
                <a:ext cx="1872208" cy="629436"/>
              </a:xfrm>
              <a:prstGeom prst="downArrowCallou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s-ES_tradnl" b="1" i="1" dirty="0" smtClean="0">
                    <a:solidFill>
                      <a:schemeClr val="tx1"/>
                    </a:solidFill>
                    <a:latin typeface="Century Gothic"/>
                    <a:ea typeface="Calibri"/>
                    <a:cs typeface="Times New Roman"/>
                  </a:rPr>
                  <a:t>LO DESMOTIVA</a:t>
                </a:r>
                <a:endParaRPr lang="es-ES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endParaRPr>
              </a:p>
            </p:txBody>
          </p:sp>
          <p:grpSp>
            <p:nvGrpSpPr>
              <p:cNvPr id="36" name="35 Grupo"/>
              <p:cNvGrpSpPr/>
              <p:nvPr/>
            </p:nvGrpSpPr>
            <p:grpSpPr>
              <a:xfrm>
                <a:off x="1259632" y="764704"/>
                <a:ext cx="144016" cy="144016"/>
                <a:chOff x="1259632" y="1052736"/>
                <a:chExt cx="144016" cy="144016"/>
              </a:xfrm>
            </p:grpSpPr>
            <p:sp>
              <p:nvSpPr>
                <p:cNvPr id="31" name="30 Rectángulo"/>
                <p:cNvSpPr/>
                <p:nvPr/>
              </p:nvSpPr>
              <p:spPr>
                <a:xfrm>
                  <a:off x="1259632" y="1052736"/>
                  <a:ext cx="144016" cy="14401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cxnSp>
              <p:nvCxnSpPr>
                <p:cNvPr id="33" name="32 Conector recto"/>
                <p:cNvCxnSpPr>
                  <a:stCxn id="31" idx="0"/>
                </p:cNvCxnSpPr>
                <p:nvPr/>
              </p:nvCxnSpPr>
              <p:spPr>
                <a:xfrm>
                  <a:off x="1331640" y="1052736"/>
                  <a:ext cx="72008" cy="0"/>
                </a:xfrm>
                <a:prstGeom prst="line">
                  <a:avLst/>
                </a:prstGeom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33 Conector recto"/>
                <p:cNvCxnSpPr/>
                <p:nvPr/>
              </p:nvCxnSpPr>
              <p:spPr>
                <a:xfrm>
                  <a:off x="1331640" y="1196752"/>
                  <a:ext cx="72008" cy="0"/>
                </a:xfrm>
                <a:prstGeom prst="lin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</p:cxnSp>
          </p:grpSp>
        </p:grpSp>
        <p:grpSp>
          <p:nvGrpSpPr>
            <p:cNvPr id="45" name="44 Grupo"/>
            <p:cNvGrpSpPr/>
            <p:nvPr/>
          </p:nvGrpSpPr>
          <p:grpSpPr>
            <a:xfrm>
              <a:off x="35496" y="5194210"/>
              <a:ext cx="9001000" cy="1331134"/>
              <a:chOff x="35496" y="5373216"/>
              <a:chExt cx="9001000" cy="1331134"/>
            </a:xfrm>
          </p:grpSpPr>
          <p:grpSp>
            <p:nvGrpSpPr>
              <p:cNvPr id="39" name="38 Grupo"/>
              <p:cNvGrpSpPr/>
              <p:nvPr/>
            </p:nvGrpSpPr>
            <p:grpSpPr>
              <a:xfrm>
                <a:off x="1763688" y="5373216"/>
                <a:ext cx="7272808" cy="1331134"/>
                <a:chOff x="1691680" y="1844824"/>
                <a:chExt cx="7272808" cy="1331134"/>
              </a:xfrm>
            </p:grpSpPr>
            <p:sp>
              <p:nvSpPr>
                <p:cNvPr id="40" name="39 CuadroTexto"/>
                <p:cNvSpPr txBox="1"/>
                <p:nvPr/>
              </p:nvSpPr>
              <p:spPr>
                <a:xfrm>
                  <a:off x="1691680" y="1844824"/>
                  <a:ext cx="2952328" cy="1331134"/>
                </a:xfrm>
                <a:prstGeom prst="chevron">
                  <a:avLst>
                    <a:gd name="adj" fmla="val 16257"/>
                  </a:avLst>
                </a:prstGeom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marL="228600" indent="-228600">
                    <a:spcAft>
                      <a:spcPts val="0"/>
                    </a:spcAft>
                    <a:tabLst>
                      <a:tab pos="228600" algn="l"/>
                    </a:tabLst>
                  </a:pPr>
                  <a:endParaRPr lang="es-ES_tradnl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228600" indent="-228600"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Calmo/constante</a:t>
                  </a: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228600" indent="-228600"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Se adapta</a:t>
                  </a: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228600" indent="-228600"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Amistoso</a:t>
                  </a:r>
                </a:p>
                <a:p>
                  <a:pPr marL="228600" indent="-228600">
                    <a:spcAft>
                      <a:spcPts val="0"/>
                    </a:spcAft>
                    <a:tabLst>
                      <a:tab pos="228600" algn="l"/>
                    </a:tabLst>
                  </a:pPr>
                  <a:endParaRPr lang="es-ES_tradnl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228600" indent="-228600">
                    <a:spcAft>
                      <a:spcPts val="0"/>
                    </a:spcAft>
                    <a:tabLst>
                      <a:tab pos="228600" algn="l"/>
                    </a:tabLst>
                  </a:pPr>
                  <a:endParaRPr lang="es-ES_tradnl" sz="105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41" name="40 CuadroTexto"/>
                <p:cNvSpPr txBox="1"/>
                <p:nvPr/>
              </p:nvSpPr>
              <p:spPr>
                <a:xfrm>
                  <a:off x="4427984" y="1844824"/>
                  <a:ext cx="2376264" cy="1331134"/>
                </a:xfrm>
                <a:prstGeom prst="chevron">
                  <a:avLst>
                    <a:gd name="adj" fmla="val 16540"/>
                  </a:avLst>
                </a:prstGeom>
                <a:solidFill>
                  <a:srgbClr val="FFFF99"/>
                </a:solidFill>
                <a:ln>
                  <a:solidFill>
                    <a:srgbClr val="FFFF99"/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marL="228600" indent="-2286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Clima cordial</a:t>
                  </a: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228600" indent="-2286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Tareas tranquilas</a:t>
                  </a: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342900" lvl="0" indent="-342900">
                    <a:lnSpc>
                      <a:spcPct val="115000"/>
                    </a:lnSpc>
                    <a:spcAft>
                      <a:spcPts val="0"/>
                    </a:spcAft>
                    <a:buFont typeface="Symbol"/>
                    <a:buNone/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Rutina pautada</a:t>
                  </a: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228600" indent="-2286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Trabajo en equipo</a:t>
                  </a:r>
                  <a:endParaRPr lang="es-ES" sz="140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228600" indent="-228600">
                    <a:lnSpc>
                      <a:spcPct val="115000"/>
                    </a:lnSpc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40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Estabilidad</a:t>
                  </a:r>
                  <a:endParaRPr lang="es-ES" sz="3200" b="1" dirty="0" smtClean="0">
                    <a:solidFill>
                      <a:schemeClr val="dk1"/>
                    </a:solidFill>
                    <a:latin typeface="Century Gothic" pitchFamily="34" charset="0"/>
                    <a:ea typeface="Calibri"/>
                    <a:cs typeface="Times New Roman"/>
                  </a:endParaRPr>
                </a:p>
              </p:txBody>
            </p:sp>
            <p:sp>
              <p:nvSpPr>
                <p:cNvPr id="42" name="41 CuadroTexto"/>
                <p:cNvSpPr txBox="1"/>
                <p:nvPr/>
              </p:nvSpPr>
              <p:spPr>
                <a:xfrm>
                  <a:off x="6588224" y="1844824"/>
                  <a:ext cx="2376264" cy="1331134"/>
                </a:xfrm>
                <a:prstGeom prst="chevron">
                  <a:avLst>
                    <a:gd name="adj" fmla="val 16540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marL="228600" indent="-228600"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15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Conflictos/riesgos</a:t>
                  </a:r>
                  <a:endParaRPr lang="es-ES" sz="115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228600" indent="-228600"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15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Cambios frecuentes de jefe, grupo o tarea</a:t>
                  </a:r>
                  <a:endParaRPr lang="es-ES" sz="115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228600" indent="-228600">
                    <a:spcAft>
                      <a:spcPts val="0"/>
                    </a:spcAft>
                    <a:tabLst>
                      <a:tab pos="228600" algn="l"/>
                    </a:tabLst>
                  </a:pPr>
                  <a:r>
                    <a:rPr lang="es-ES_tradnl" sz="115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Falta de Pautas</a:t>
                  </a:r>
                  <a:endParaRPr lang="es-ES" sz="115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 marL="228600" indent="-228600">
                    <a:spcAft>
                      <a:spcPts val="0"/>
                    </a:spcAft>
                  </a:pPr>
                  <a:r>
                    <a:rPr lang="es-ES_tradnl" sz="115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Aislamiento del grupo</a:t>
                  </a:r>
                  <a:endParaRPr lang="es-ES" sz="115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  <a:p>
                  <a:pPr>
                    <a:spcAft>
                      <a:spcPts val="0"/>
                    </a:spcAft>
                  </a:pPr>
                  <a:r>
                    <a:rPr lang="es-ES_tradnl" sz="115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. Dirigir o tomar   </a:t>
                  </a:r>
                </a:p>
                <a:p>
                  <a:pPr>
                    <a:spcAft>
                      <a:spcPts val="0"/>
                    </a:spcAft>
                  </a:pPr>
                  <a:r>
                    <a:rPr lang="es-ES_tradnl" sz="1150" b="1" dirty="0" smtClean="0">
                      <a:latin typeface="Century Gothic" pitchFamily="34" charset="0"/>
                      <a:ea typeface="Calibri"/>
                      <a:cs typeface="Times New Roman"/>
                    </a:rPr>
                    <a:t> decisiones sin consultar</a:t>
                  </a:r>
                  <a:endParaRPr lang="es-ES" sz="1150" b="1" dirty="0" smtClean="0">
                    <a:latin typeface="Century Gothic" pitchFamily="34" charset="0"/>
                    <a:ea typeface="Calibri"/>
                    <a:cs typeface="Times New Roman"/>
                  </a:endParaRPr>
                </a:p>
              </p:txBody>
            </p:sp>
          </p:grpSp>
          <p:sp>
            <p:nvSpPr>
              <p:cNvPr id="13" name="12 CuadroTexto"/>
              <p:cNvSpPr txBox="1"/>
              <p:nvPr/>
            </p:nvSpPr>
            <p:spPr>
              <a:xfrm>
                <a:off x="35496" y="5877272"/>
                <a:ext cx="2016224" cy="369332"/>
              </a:xfrm>
              <a:prstGeom prst="homePlate">
                <a:avLst>
                  <a:gd name="adj" fmla="val 19636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AR" b="1" i="1" dirty="0" smtClean="0">
                    <a:latin typeface="Century Gothic"/>
                    <a:ea typeface="Calibri"/>
                    <a:cs typeface="Times New Roman"/>
                  </a:rPr>
                  <a:t>COLABORADOR</a:t>
                </a:r>
                <a:endParaRPr lang="es-ES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251520" y="764704"/>
            <a:ext cx="3312368" cy="715089"/>
          </a:xfrm>
          <a:prstGeom prst="wedgeRoundRectCallout">
            <a:avLst>
              <a:gd name="adj1" fmla="val -18916"/>
              <a:gd name="adj2" fmla="val 124660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sz="3600" b="1" i="1" dirty="0" smtClean="0">
                <a:latin typeface="Century Gothic"/>
                <a:ea typeface="Calibri"/>
                <a:cs typeface="Times New Roman"/>
              </a:rPr>
              <a:t>IMPETUOSO</a:t>
            </a:r>
            <a:endParaRPr lang="es-ES" sz="3600" dirty="0"/>
          </a:p>
        </p:txBody>
      </p:sp>
      <p:grpSp>
        <p:nvGrpSpPr>
          <p:cNvPr id="21" name="20 Grupo"/>
          <p:cNvGrpSpPr/>
          <p:nvPr/>
        </p:nvGrpSpPr>
        <p:grpSpPr>
          <a:xfrm>
            <a:off x="251520" y="4653136"/>
            <a:ext cx="8424936" cy="1464231"/>
            <a:chOff x="251520" y="4653136"/>
            <a:chExt cx="8424320" cy="1464231"/>
          </a:xfrm>
        </p:grpSpPr>
        <p:sp>
          <p:nvSpPr>
            <p:cNvPr id="5" name="4 CuadroTexto"/>
            <p:cNvSpPr txBox="1"/>
            <p:nvPr/>
          </p:nvSpPr>
          <p:spPr>
            <a:xfrm>
              <a:off x="1921859" y="4653136"/>
              <a:ext cx="6753981" cy="1464231"/>
            </a:xfrm>
            <a:prstGeom prst="flowChartAlternate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342900" indent="-3429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Parlamentar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indent="-3429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.    . Tareas de detalle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indent="-3429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Planificar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indent="-3429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Esperar</a:t>
              </a:r>
            </a:p>
          </p:txBody>
        </p:sp>
        <p:sp>
          <p:nvSpPr>
            <p:cNvPr id="10" name="9 CuadroTexto"/>
            <p:cNvSpPr txBox="1"/>
            <p:nvPr/>
          </p:nvSpPr>
          <p:spPr>
            <a:xfrm>
              <a:off x="251520" y="4918754"/>
              <a:ext cx="3312368" cy="886510"/>
            </a:xfrm>
            <a:prstGeom prst="notched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s-ES_tradnl" sz="2000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rPr>
                <a:t>LO DESMOTIVA</a:t>
              </a:r>
              <a:endParaRPr lang="es-ES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endParaRPr>
            </a:p>
          </p:txBody>
        </p:sp>
      </p:grpSp>
      <p:sp>
        <p:nvSpPr>
          <p:cNvPr id="17" name="16 CuadroTexto"/>
          <p:cNvSpPr txBox="1"/>
          <p:nvPr/>
        </p:nvSpPr>
        <p:spPr>
          <a:xfrm>
            <a:off x="1187624" y="260648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b="1" spc="100" dirty="0" smtClean="0">
                <a:solidFill>
                  <a:schemeClr val="tx2"/>
                </a:solidFill>
                <a:latin typeface="Arial Black" pitchFamily="34" charset="0"/>
                <a:cs typeface="+mn-cs"/>
              </a:rPr>
              <a:t>ESTILOS MOTIVACIONALES</a:t>
            </a:r>
            <a:endParaRPr lang="es-ES" b="1" spc="100" dirty="0">
              <a:solidFill>
                <a:schemeClr val="tx2"/>
              </a:solidFill>
              <a:latin typeface="Arial Black" pitchFamily="34" charset="0"/>
              <a:cs typeface="+mn-cs"/>
            </a:endParaRPr>
          </a:p>
        </p:txBody>
      </p:sp>
      <p:grpSp>
        <p:nvGrpSpPr>
          <p:cNvPr id="19" name="18 Grupo"/>
          <p:cNvGrpSpPr/>
          <p:nvPr/>
        </p:nvGrpSpPr>
        <p:grpSpPr>
          <a:xfrm>
            <a:off x="323528" y="1700808"/>
            <a:ext cx="8352928" cy="1276945"/>
            <a:chOff x="323528" y="1700808"/>
            <a:chExt cx="8352928" cy="1276945"/>
          </a:xfrm>
        </p:grpSpPr>
        <p:sp>
          <p:nvSpPr>
            <p:cNvPr id="3" name="2 CuadroTexto"/>
            <p:cNvSpPr txBox="1"/>
            <p:nvPr/>
          </p:nvSpPr>
          <p:spPr>
            <a:xfrm>
              <a:off x="1907704" y="1700808"/>
              <a:ext cx="6768752" cy="1276945"/>
            </a:xfrm>
            <a:prstGeom prst="flowChartAlternateProcess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342900" lvl="0" indent="-342900">
                <a:lnSpc>
                  <a:spcPct val="115000"/>
                </a:lnSpc>
                <a:spcAft>
                  <a:spcPts val="0"/>
                </a:spcAft>
                <a:buFont typeface="Symbol"/>
                <a:buNone/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 . Vigoroso/Competitivo</a:t>
              </a:r>
              <a:r>
                <a:rPr lang="es-ES" sz="2000" b="1" dirty="0" smtClean="0">
                  <a:latin typeface="Century Gothic" pitchFamily="34" charset="0"/>
                  <a:ea typeface="Calibri"/>
                  <a:cs typeface="Times New Roman"/>
                </a:rPr>
                <a:t>. </a:t>
              </a: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</a:t>
              </a:r>
            </a:p>
            <a:p>
              <a:pPr marL="342900" lvl="0" indent="-342900">
                <a:lnSpc>
                  <a:spcPct val="115000"/>
                </a:lnSpc>
                <a:spcAft>
                  <a:spcPts val="0"/>
                </a:spcAft>
                <a:buFont typeface="Symbol"/>
                <a:buNone/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 . Emprendedor/ Abierto al cambio 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lvl="0" indent="-342900">
                <a:lnSpc>
                  <a:spcPct val="115000"/>
                </a:lnSpc>
                <a:spcAft>
                  <a:spcPts val="0"/>
                </a:spcAft>
                <a:buFont typeface="Symbol"/>
                <a:buNone/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 . Impaciente. Planifica poco</a:t>
              </a:r>
              <a:endParaRPr lang="es-ES" sz="2000" b="1" dirty="0">
                <a:latin typeface="Century Gothic" pitchFamily="34" charset="0"/>
                <a:ea typeface="Calibri"/>
                <a:cs typeface="Times New Roman"/>
              </a:endParaRPr>
            </a:p>
          </p:txBody>
        </p:sp>
        <p:sp>
          <p:nvSpPr>
            <p:cNvPr id="8" name="7 CuadroTexto"/>
            <p:cNvSpPr txBox="1"/>
            <p:nvPr/>
          </p:nvSpPr>
          <p:spPr>
            <a:xfrm>
              <a:off x="323528" y="1883619"/>
              <a:ext cx="3168352" cy="820531"/>
            </a:xfrm>
            <a:prstGeom prst="notched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s-ES_tradnl" sz="2000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rPr>
                <a:t>CARACTERÍSTICAS</a:t>
              </a:r>
              <a:endParaRPr lang="es-ES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endParaRPr>
            </a:p>
          </p:txBody>
        </p:sp>
      </p:grpSp>
      <p:grpSp>
        <p:nvGrpSpPr>
          <p:cNvPr id="20" name="19 Grupo"/>
          <p:cNvGrpSpPr/>
          <p:nvPr/>
        </p:nvGrpSpPr>
        <p:grpSpPr>
          <a:xfrm>
            <a:off x="251520" y="3068960"/>
            <a:ext cx="8424936" cy="1464231"/>
            <a:chOff x="251520" y="3332921"/>
            <a:chExt cx="8424936" cy="1464231"/>
          </a:xfrm>
        </p:grpSpPr>
        <p:sp>
          <p:nvSpPr>
            <p:cNvPr id="4" name="3 CuadroTexto"/>
            <p:cNvSpPr txBox="1"/>
            <p:nvPr/>
          </p:nvSpPr>
          <p:spPr>
            <a:xfrm>
              <a:off x="1907704" y="3332921"/>
              <a:ext cx="6768752" cy="1464231"/>
            </a:xfrm>
            <a:prstGeom prst="flowChartAlternateProcess">
              <a:avLst/>
            </a:prstGeom>
            <a:solidFill>
              <a:srgbClr val="FFFF99"/>
            </a:solidFill>
            <a:ln>
              <a:solidFill>
                <a:srgbClr val="FFFF9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342900" indent="-3429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solidFill>
                    <a:schemeClr val="dk1"/>
                  </a:solidFill>
                  <a:latin typeface="Century Gothic" pitchFamily="34" charset="0"/>
                  <a:ea typeface="Calibri"/>
                  <a:cs typeface="Times New Roman"/>
                </a:rPr>
                <a:t>                       . La acción</a:t>
              </a:r>
              <a:endParaRPr lang="es-ES" sz="2000" b="1" dirty="0" smtClean="0">
                <a:solidFill>
                  <a:schemeClr val="dk1"/>
                </a:solidFill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indent="-3429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solidFill>
                    <a:schemeClr val="dk1"/>
                  </a:solidFill>
                  <a:latin typeface="Century Gothic" pitchFamily="34" charset="0"/>
                  <a:ea typeface="Calibri"/>
                  <a:cs typeface="Times New Roman"/>
                </a:rPr>
                <a:t>                       . Tareas difíciles</a:t>
              </a:r>
              <a:endParaRPr lang="es-ES" sz="2000" b="1" dirty="0" smtClean="0">
                <a:solidFill>
                  <a:schemeClr val="dk1"/>
                </a:solidFill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indent="-342900">
                <a:spcAft>
                  <a:spcPts val="0"/>
                </a:spcAft>
              </a:pPr>
              <a:r>
                <a:rPr lang="es-ES_tradnl" sz="2000" b="1" dirty="0" smtClean="0">
                  <a:solidFill>
                    <a:schemeClr val="dk1"/>
                  </a:solidFill>
                  <a:latin typeface="Century Gothic" pitchFamily="34" charset="0"/>
                  <a:ea typeface="Calibri"/>
                  <a:cs typeface="Times New Roman"/>
                </a:rPr>
                <a:t>                       . Resultados rápidos </a:t>
              </a:r>
              <a:endParaRPr lang="es-ES" sz="2000" b="1" dirty="0" smtClean="0">
                <a:solidFill>
                  <a:schemeClr val="dk1"/>
                </a:solidFill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indent="-3429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solidFill>
                    <a:schemeClr val="dk1"/>
                  </a:solidFill>
                  <a:latin typeface="Century Gothic" pitchFamily="34" charset="0"/>
                  <a:ea typeface="Calibri"/>
                  <a:cs typeface="Times New Roman"/>
                </a:rPr>
                <a:t>                       . Las novedades/el cambio</a:t>
              </a:r>
              <a:endParaRPr lang="es-ES" sz="2000" b="1" dirty="0" smtClean="0">
                <a:solidFill>
                  <a:schemeClr val="dk1"/>
                </a:solidFill>
                <a:latin typeface="Century Gothic" pitchFamily="34" charset="0"/>
                <a:ea typeface="Calibri"/>
                <a:cs typeface="Times New Roman"/>
              </a:endParaRPr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251520" y="3622610"/>
              <a:ext cx="3312368" cy="886510"/>
            </a:xfrm>
            <a:prstGeom prst="notched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s-ES_tradnl" sz="2000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rPr>
                <a:t>LO MOTIVA</a:t>
              </a:r>
              <a:endParaRPr lang="es-ES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uadroTexto"/>
          <p:cNvSpPr txBox="1"/>
          <p:nvPr/>
        </p:nvSpPr>
        <p:spPr>
          <a:xfrm>
            <a:off x="251520" y="764704"/>
            <a:ext cx="3312368" cy="715089"/>
          </a:xfrm>
          <a:prstGeom prst="wedgeRoundRectCallout">
            <a:avLst>
              <a:gd name="adj1" fmla="val -18916"/>
              <a:gd name="adj2" fmla="val 124660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sz="3600" b="1" i="1" dirty="0" smtClean="0">
                <a:latin typeface="Century Gothic"/>
                <a:ea typeface="Calibri"/>
                <a:cs typeface="Times New Roman"/>
              </a:rPr>
              <a:t>PERSUASIVO</a:t>
            </a:r>
            <a:endParaRPr lang="es-ES" sz="3600" dirty="0"/>
          </a:p>
        </p:txBody>
      </p:sp>
      <p:sp>
        <p:nvSpPr>
          <p:cNvPr id="20" name="19 CuadroTexto"/>
          <p:cNvSpPr txBox="1"/>
          <p:nvPr/>
        </p:nvSpPr>
        <p:spPr>
          <a:xfrm>
            <a:off x="1872208" y="1700808"/>
            <a:ext cx="6804248" cy="1293971"/>
          </a:xfrm>
          <a:prstGeom prst="flowChartAlternateProcess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Symbol"/>
              <a:buNone/>
              <a:tabLst>
                <a:tab pos="228600" algn="l"/>
              </a:tabLst>
            </a:pPr>
            <a:r>
              <a:rPr lang="es-AR" sz="2000" b="1" dirty="0" smtClean="0">
                <a:latin typeface="Century Gothic" pitchFamily="34" charset="0"/>
                <a:ea typeface="Calibri"/>
                <a:cs typeface="Times New Roman"/>
              </a:rPr>
              <a:t>                        . Entrador</a:t>
            </a:r>
            <a:endParaRPr lang="es-ES" sz="2000" b="1" dirty="0" smtClean="0">
              <a:latin typeface="Century Gothic" pitchFamily="34" charset="0"/>
              <a:ea typeface="Calibri"/>
              <a:cs typeface="Times New Roman"/>
            </a:endParaRPr>
          </a:p>
          <a:p>
            <a:pPr marL="228600" indent="-228600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tabLst>
                <a:tab pos="228600" algn="l"/>
              </a:tabLst>
            </a:pPr>
            <a:r>
              <a:rPr lang="es-ES_tradnl" sz="2000" b="1" dirty="0" smtClean="0">
                <a:latin typeface="Century Gothic" pitchFamily="34" charset="0"/>
                <a:ea typeface="Calibri"/>
                <a:cs typeface="Times New Roman"/>
              </a:rPr>
              <a:t>                        . Conversador</a:t>
            </a:r>
            <a:endParaRPr lang="es-ES" sz="2000" b="1" dirty="0" smtClean="0">
              <a:latin typeface="Century Gothic" pitchFamily="34" charset="0"/>
              <a:ea typeface="Calibri"/>
              <a:cs typeface="Times New Roman"/>
            </a:endParaRPr>
          </a:p>
          <a:p>
            <a:pPr marL="228600" indent="-228600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tabLst>
                <a:tab pos="228600" algn="l"/>
              </a:tabLst>
            </a:pPr>
            <a:r>
              <a:rPr lang="es-ES_tradnl" sz="2000" b="1" dirty="0" smtClean="0">
                <a:latin typeface="Century Gothic" pitchFamily="34" charset="0"/>
                <a:ea typeface="Calibri"/>
                <a:cs typeface="Times New Roman"/>
              </a:rPr>
              <a:t>                        . Confiado en sí mismo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323528" y="1883619"/>
            <a:ext cx="3168352" cy="820531"/>
          </a:xfrm>
          <a:prstGeom prst="notch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s-ES_tradnl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rPr>
              <a:t>CARACTERÍSTICAS</a:t>
            </a:r>
            <a:endParaRPr lang="es-ES" sz="2000" b="1" i="1" dirty="0" smtClean="0">
              <a:solidFill>
                <a:schemeClr val="tx1"/>
              </a:solidFill>
              <a:latin typeface="Century Gothic"/>
              <a:ea typeface="Calibri"/>
              <a:cs typeface="Times New Roman"/>
            </a:endParaRPr>
          </a:p>
        </p:txBody>
      </p:sp>
      <p:grpSp>
        <p:nvGrpSpPr>
          <p:cNvPr id="23" name="22 Grupo"/>
          <p:cNvGrpSpPr/>
          <p:nvPr/>
        </p:nvGrpSpPr>
        <p:grpSpPr>
          <a:xfrm>
            <a:off x="251520" y="3068960"/>
            <a:ext cx="8424936" cy="1464231"/>
            <a:chOff x="251520" y="3068960"/>
            <a:chExt cx="8424936" cy="1464231"/>
          </a:xfrm>
        </p:grpSpPr>
        <p:sp>
          <p:nvSpPr>
            <p:cNvPr id="21" name="20 CuadroTexto"/>
            <p:cNvSpPr txBox="1"/>
            <p:nvPr/>
          </p:nvSpPr>
          <p:spPr>
            <a:xfrm>
              <a:off x="1907704" y="3068960"/>
              <a:ext cx="6768752" cy="1464231"/>
            </a:xfrm>
            <a:prstGeom prst="flowChartAlternateProcess">
              <a:avLst/>
            </a:prstGeom>
            <a:solidFill>
              <a:srgbClr val="FFFF99"/>
            </a:solidFill>
            <a:ln>
              <a:solidFill>
                <a:srgbClr val="FFFF9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180975" indent="-180975">
                <a:spcAft>
                  <a:spcPts val="0"/>
                </a:spcAft>
              </a:pPr>
              <a:r>
                <a:rPr lang="es-ES_tradnl" sz="2000" b="1" dirty="0" smtClean="0">
                  <a:solidFill>
                    <a:schemeClr val="dk1"/>
                  </a:solidFill>
                  <a:latin typeface="Century Gothic" pitchFamily="34" charset="0"/>
                  <a:ea typeface="Calibri"/>
                  <a:cs typeface="Times New Roman"/>
                </a:rPr>
                <a:t>                       </a:t>
              </a: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. Tratar con la gente. 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180975" indent="-180975">
                <a:spcAft>
                  <a:spcPts val="0"/>
                </a:spcAf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 . Hacer sociales.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180975" indent="-180975">
                <a:spcAft>
                  <a:spcPts val="0"/>
                </a:spcAf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 . Convencer/Vender</a:t>
              </a:r>
              <a:r>
                <a:rPr lang="es-ES" sz="2000" b="1" dirty="0" smtClean="0">
                  <a:latin typeface="Century Gothic" pitchFamily="34" charset="0"/>
                  <a:ea typeface="Calibri"/>
                  <a:cs typeface="Times New Roman"/>
                </a:rPr>
                <a:t> </a:t>
              </a: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Mostrarse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180975" lvl="0" indent="-180975">
                <a:spcAft>
                  <a:spcPts val="0"/>
                </a:spcAft>
                <a:buFont typeface="Symbol"/>
                <a:buNone/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 . Crear consenso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</p:txBody>
        </p:sp>
        <p:sp>
          <p:nvSpPr>
            <p:cNvPr id="19" name="18 CuadroTexto"/>
            <p:cNvSpPr txBox="1"/>
            <p:nvPr/>
          </p:nvSpPr>
          <p:spPr>
            <a:xfrm>
              <a:off x="251520" y="3356992"/>
              <a:ext cx="3312368" cy="886510"/>
            </a:xfrm>
            <a:prstGeom prst="notched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s-ES_tradnl" sz="2000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rPr>
                <a:t>LO MOTIVA</a:t>
              </a:r>
              <a:endParaRPr lang="es-ES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endParaRPr>
            </a:p>
          </p:txBody>
        </p:sp>
      </p:grpSp>
      <p:grpSp>
        <p:nvGrpSpPr>
          <p:cNvPr id="24" name="23 Grupo"/>
          <p:cNvGrpSpPr/>
          <p:nvPr/>
        </p:nvGrpSpPr>
        <p:grpSpPr>
          <a:xfrm>
            <a:off x="251520" y="4629065"/>
            <a:ext cx="8424936" cy="1464231"/>
            <a:chOff x="251520" y="4797152"/>
            <a:chExt cx="8424936" cy="1464231"/>
          </a:xfrm>
        </p:grpSpPr>
        <p:sp>
          <p:nvSpPr>
            <p:cNvPr id="22" name="21 CuadroTexto"/>
            <p:cNvSpPr txBox="1"/>
            <p:nvPr/>
          </p:nvSpPr>
          <p:spPr>
            <a:xfrm>
              <a:off x="1907704" y="4797152"/>
              <a:ext cx="6768752" cy="1464231"/>
            </a:xfrm>
            <a:prstGeom prst="flowChartAlternate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 . Papeleo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 . Planificar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 . Tareas rutinarias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lvl="0" indent="-342900">
                <a:spcAft>
                  <a:spcPts val="0"/>
                </a:spcAft>
                <a:buFont typeface="Symbol"/>
                <a:buNone/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 . No tener contacto con la gente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251520" y="5085184"/>
              <a:ext cx="3312368" cy="886510"/>
            </a:xfrm>
            <a:prstGeom prst="notched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s-ES_tradnl" sz="2000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rPr>
                <a:t>LO DESMOTIVA</a:t>
              </a:r>
              <a:endParaRPr lang="es-ES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endParaRPr>
            </a:p>
          </p:txBody>
        </p:sp>
      </p:grpSp>
      <p:sp>
        <p:nvSpPr>
          <p:cNvPr id="13" name="12 CuadroTexto"/>
          <p:cNvSpPr txBox="1"/>
          <p:nvPr/>
        </p:nvSpPr>
        <p:spPr>
          <a:xfrm>
            <a:off x="1187624" y="260648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b="1" spc="100" dirty="0" smtClean="0">
                <a:solidFill>
                  <a:schemeClr val="tx2"/>
                </a:solidFill>
                <a:latin typeface="Arial Black" pitchFamily="34" charset="0"/>
                <a:cs typeface="+mn-cs"/>
              </a:rPr>
              <a:t>ESTILOS MOTIVACIONALES</a:t>
            </a:r>
            <a:endParaRPr lang="es-ES" b="1" spc="100" dirty="0">
              <a:solidFill>
                <a:schemeClr val="tx2"/>
              </a:solidFill>
              <a:latin typeface="Arial Black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26 CuadroTexto"/>
          <p:cNvSpPr txBox="1"/>
          <p:nvPr/>
        </p:nvSpPr>
        <p:spPr>
          <a:xfrm>
            <a:off x="251520" y="764704"/>
            <a:ext cx="4464496" cy="715089"/>
          </a:xfrm>
          <a:prstGeom prst="wedgeRoundRectCallout">
            <a:avLst>
              <a:gd name="adj1" fmla="val -18916"/>
              <a:gd name="adj2" fmla="val 124660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sz="3600" b="1" i="1" dirty="0" smtClean="0">
                <a:latin typeface="Century Gothic"/>
                <a:ea typeface="Calibri"/>
                <a:cs typeface="Times New Roman"/>
              </a:rPr>
              <a:t>PERFECCIONISTA</a:t>
            </a:r>
            <a:endParaRPr lang="es-ES" sz="3600" dirty="0"/>
          </a:p>
        </p:txBody>
      </p:sp>
      <p:grpSp>
        <p:nvGrpSpPr>
          <p:cNvPr id="36" name="35 Grupo"/>
          <p:cNvGrpSpPr/>
          <p:nvPr/>
        </p:nvGrpSpPr>
        <p:grpSpPr>
          <a:xfrm>
            <a:off x="251520" y="4917097"/>
            <a:ext cx="8424936" cy="1464231"/>
            <a:chOff x="251520" y="5013176"/>
            <a:chExt cx="8424936" cy="1464231"/>
          </a:xfrm>
        </p:grpSpPr>
        <p:sp>
          <p:nvSpPr>
            <p:cNvPr id="33" name="32 CuadroTexto"/>
            <p:cNvSpPr txBox="1"/>
            <p:nvPr/>
          </p:nvSpPr>
          <p:spPr>
            <a:xfrm>
              <a:off x="1907704" y="5013176"/>
              <a:ext cx="6768752" cy="1464231"/>
            </a:xfrm>
            <a:prstGeom prst="flowChartAlternate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1800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Incertidumbre/Riesgo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1800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Presión del tiempo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1800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Improvisar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1800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Interacción con la gente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</p:txBody>
        </p:sp>
        <p:sp>
          <p:nvSpPr>
            <p:cNvPr id="30" name="29 CuadroTexto"/>
            <p:cNvSpPr txBox="1"/>
            <p:nvPr/>
          </p:nvSpPr>
          <p:spPr>
            <a:xfrm>
              <a:off x="251520" y="5278794"/>
              <a:ext cx="3312368" cy="886510"/>
            </a:xfrm>
            <a:prstGeom prst="notched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s-ES_tradnl" sz="2000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rPr>
                <a:t>LO DESMOTIVA</a:t>
              </a:r>
              <a:endParaRPr lang="es-ES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endParaRPr>
            </a:p>
          </p:txBody>
        </p:sp>
      </p:grpSp>
      <p:grpSp>
        <p:nvGrpSpPr>
          <p:cNvPr id="34" name="33 Grupo"/>
          <p:cNvGrpSpPr/>
          <p:nvPr/>
        </p:nvGrpSpPr>
        <p:grpSpPr>
          <a:xfrm>
            <a:off x="323528" y="1772816"/>
            <a:ext cx="8352928" cy="1450042"/>
            <a:chOff x="323528" y="1772816"/>
            <a:chExt cx="8352928" cy="1450042"/>
          </a:xfrm>
        </p:grpSpPr>
        <p:sp>
          <p:nvSpPr>
            <p:cNvPr id="31" name="30 CuadroTexto"/>
            <p:cNvSpPr txBox="1"/>
            <p:nvPr/>
          </p:nvSpPr>
          <p:spPr>
            <a:xfrm>
              <a:off x="1872208" y="1772816"/>
              <a:ext cx="6804248" cy="1450042"/>
            </a:xfrm>
            <a:prstGeom prst="flowChartAlternateProcess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28600" indent="-228600">
                <a:lnSpc>
                  <a:spcPts val="1900"/>
                </a:lnSpc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Analítico/detallista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lnSpc>
                  <a:spcPts val="1900"/>
                </a:lnSpc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Planificador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lnSpc>
                  <a:spcPts val="1900"/>
                </a:lnSpc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Observador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lvl="0" indent="-342900">
                <a:lnSpc>
                  <a:spcPts val="1900"/>
                </a:lnSpc>
                <a:spcAft>
                  <a:spcPts val="0"/>
                </a:spcAft>
                <a:buFont typeface="Symbol"/>
                <a:buNone/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Preciso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lnSpc>
                  <a:spcPts val="1900"/>
                </a:lnSpc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Se toma su tiempo</a:t>
              </a:r>
            </a:p>
          </p:txBody>
        </p:sp>
        <p:sp>
          <p:nvSpPr>
            <p:cNvPr id="28" name="27 CuadroTexto"/>
            <p:cNvSpPr txBox="1"/>
            <p:nvPr/>
          </p:nvSpPr>
          <p:spPr>
            <a:xfrm>
              <a:off x="323528" y="2032405"/>
              <a:ext cx="3168352" cy="820531"/>
            </a:xfrm>
            <a:prstGeom prst="notched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s-ES_tradnl" sz="2000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rPr>
                <a:t>CARACTERÍSTICAS</a:t>
              </a:r>
              <a:endParaRPr lang="es-ES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endParaRPr>
            </a:p>
          </p:txBody>
        </p:sp>
      </p:grpSp>
      <p:grpSp>
        <p:nvGrpSpPr>
          <p:cNvPr id="35" name="34 Grupo"/>
          <p:cNvGrpSpPr/>
          <p:nvPr/>
        </p:nvGrpSpPr>
        <p:grpSpPr>
          <a:xfrm>
            <a:off x="251520" y="3332921"/>
            <a:ext cx="8424936" cy="1464231"/>
            <a:chOff x="251520" y="3356992"/>
            <a:chExt cx="8424936" cy="1464231"/>
          </a:xfrm>
        </p:grpSpPr>
        <p:sp>
          <p:nvSpPr>
            <p:cNvPr id="32" name="31 CuadroTexto"/>
            <p:cNvSpPr txBox="1"/>
            <p:nvPr/>
          </p:nvSpPr>
          <p:spPr>
            <a:xfrm>
              <a:off x="1907704" y="3356992"/>
              <a:ext cx="6768752" cy="1464231"/>
            </a:xfrm>
            <a:prstGeom prst="flowChartAlternateProcess">
              <a:avLst/>
            </a:prstGeom>
            <a:solidFill>
              <a:srgbClr val="FFFF99"/>
            </a:solidFill>
            <a:ln>
              <a:solidFill>
                <a:srgbClr val="FFFF9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solidFill>
                    <a:schemeClr val="dk1"/>
                  </a:solidFill>
                  <a:latin typeface="Century Gothic" pitchFamily="34" charset="0"/>
                  <a:ea typeface="Calibri"/>
                  <a:cs typeface="Times New Roman"/>
                </a:rPr>
                <a:t>                      </a:t>
              </a: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. Tareas de análisis/detalle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Buscar calidad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lvl="0" indent="-342900">
                <a:spcAft>
                  <a:spcPts val="0"/>
                </a:spcAft>
                <a:buFont typeface="Symbol"/>
                <a:buNone/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Planificar/Programar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lvl="0" indent="-342900">
                <a:spcAft>
                  <a:spcPts val="0"/>
                </a:spcAft>
                <a:buFont typeface="Symbol"/>
                <a:buNone/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          . Tareas de largo plazo</a:t>
              </a:r>
              <a:endParaRPr lang="es-ES" sz="2000" b="1" dirty="0">
                <a:latin typeface="Century Gothic" pitchFamily="34" charset="0"/>
                <a:ea typeface="Calibri"/>
                <a:cs typeface="Times New Roman"/>
              </a:endParaRPr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251520" y="3622610"/>
              <a:ext cx="3312368" cy="886510"/>
            </a:xfrm>
            <a:prstGeom prst="notched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s-ES_tradnl" sz="2000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rPr>
                <a:t>LO MOTIVA</a:t>
              </a:r>
              <a:endParaRPr lang="es-ES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endParaRPr>
            </a:p>
          </p:txBody>
        </p:sp>
      </p:grpSp>
      <p:sp>
        <p:nvSpPr>
          <p:cNvPr id="14" name="13 CuadroTexto"/>
          <p:cNvSpPr txBox="1"/>
          <p:nvPr/>
        </p:nvSpPr>
        <p:spPr>
          <a:xfrm>
            <a:off x="1187624" y="260648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b="1" spc="100" dirty="0" smtClean="0">
                <a:solidFill>
                  <a:schemeClr val="tx2"/>
                </a:solidFill>
                <a:latin typeface="Arial Black" pitchFamily="34" charset="0"/>
                <a:cs typeface="+mn-cs"/>
              </a:rPr>
              <a:t>ESTILOS MOTIVACIONALES</a:t>
            </a:r>
            <a:endParaRPr lang="es-ES" b="1" spc="100" dirty="0">
              <a:solidFill>
                <a:schemeClr val="tx2"/>
              </a:solidFill>
              <a:latin typeface="Arial Black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27 Grupo"/>
          <p:cNvGrpSpPr/>
          <p:nvPr/>
        </p:nvGrpSpPr>
        <p:grpSpPr>
          <a:xfrm>
            <a:off x="323528" y="4678985"/>
            <a:ext cx="8568952" cy="1706892"/>
            <a:chOff x="179512" y="5053251"/>
            <a:chExt cx="8712968" cy="1804749"/>
          </a:xfrm>
        </p:grpSpPr>
        <p:sp>
          <p:nvSpPr>
            <p:cNvPr id="17" name="16 CuadroTexto"/>
            <p:cNvSpPr txBox="1"/>
            <p:nvPr/>
          </p:nvSpPr>
          <p:spPr>
            <a:xfrm>
              <a:off x="2123728" y="5053251"/>
              <a:ext cx="6768752" cy="1804749"/>
            </a:xfrm>
            <a:prstGeom prst="flowChartAlternate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Conflictos/riesgos</a:t>
              </a:r>
            </a:p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Cambios frecuentes de jefe, grupo o tarea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Falta de Pautas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spcAft>
                  <a:spcPts val="0"/>
                </a:spcAf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Aislamiento del grupo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>
                <a:spcAft>
                  <a:spcPts val="0"/>
                </a:spcAf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Dirigir o tomar decisiones sin consultar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</p:txBody>
        </p:sp>
        <p:sp>
          <p:nvSpPr>
            <p:cNvPr id="18" name="17 CuadroTexto"/>
            <p:cNvSpPr txBox="1"/>
            <p:nvPr/>
          </p:nvSpPr>
          <p:spPr>
            <a:xfrm>
              <a:off x="179512" y="5373216"/>
              <a:ext cx="2868706" cy="886510"/>
            </a:xfrm>
            <a:prstGeom prst="notched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s-ES_tradnl" sz="2000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rPr>
                <a:t>LO DESMOTIVA</a:t>
              </a:r>
              <a:endParaRPr lang="es-ES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endParaRPr>
            </a:p>
          </p:txBody>
        </p:sp>
      </p:grpSp>
      <p:grpSp>
        <p:nvGrpSpPr>
          <p:cNvPr id="27" name="26 Grupo"/>
          <p:cNvGrpSpPr/>
          <p:nvPr/>
        </p:nvGrpSpPr>
        <p:grpSpPr>
          <a:xfrm>
            <a:off x="323528" y="1412776"/>
            <a:ext cx="8568952" cy="1256015"/>
            <a:chOff x="179512" y="1484784"/>
            <a:chExt cx="8712968" cy="1328023"/>
          </a:xfrm>
        </p:grpSpPr>
        <p:sp>
          <p:nvSpPr>
            <p:cNvPr id="20" name="19 CuadroTexto"/>
            <p:cNvSpPr txBox="1"/>
            <p:nvPr/>
          </p:nvSpPr>
          <p:spPr>
            <a:xfrm>
              <a:off x="2160240" y="1484784"/>
              <a:ext cx="6732240" cy="1328023"/>
            </a:xfrm>
            <a:prstGeom prst="flowChartAlternateProcess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Calmo/constante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Se adapta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Amistoso</a:t>
              </a:r>
            </a:p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endParaRPr lang="es-ES_tradnl" sz="1000" b="1" dirty="0" smtClean="0">
                <a:latin typeface="Century Gothic" pitchFamily="34" charset="0"/>
                <a:ea typeface="Calibri"/>
                <a:cs typeface="Times New Roman"/>
              </a:endParaRPr>
            </a:p>
          </p:txBody>
        </p:sp>
        <p:sp>
          <p:nvSpPr>
            <p:cNvPr id="21" name="20 CuadroTexto"/>
            <p:cNvSpPr txBox="1"/>
            <p:nvPr/>
          </p:nvSpPr>
          <p:spPr>
            <a:xfrm>
              <a:off x="179512" y="1744373"/>
              <a:ext cx="2808312" cy="886510"/>
            </a:xfrm>
            <a:prstGeom prst="notchedRightArrow">
              <a:avLst>
                <a:gd name="adj1" fmla="val 50000"/>
                <a:gd name="adj2" fmla="val 41405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s-ES_tradnl" sz="2000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rPr>
                <a:t>CARACTERÍSTICAS</a:t>
              </a:r>
              <a:endParaRPr lang="es-ES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endParaRPr>
            </a:p>
          </p:txBody>
        </p:sp>
      </p:grpSp>
      <p:grpSp>
        <p:nvGrpSpPr>
          <p:cNvPr id="22" name="21 Grupo"/>
          <p:cNvGrpSpPr/>
          <p:nvPr/>
        </p:nvGrpSpPr>
        <p:grpSpPr>
          <a:xfrm>
            <a:off x="323528" y="2806777"/>
            <a:ext cx="8568952" cy="1706892"/>
            <a:chOff x="107504" y="3356992"/>
            <a:chExt cx="8712968" cy="1804749"/>
          </a:xfrm>
        </p:grpSpPr>
        <p:sp>
          <p:nvSpPr>
            <p:cNvPr id="23" name="22 CuadroTexto"/>
            <p:cNvSpPr txBox="1"/>
            <p:nvPr/>
          </p:nvSpPr>
          <p:spPr>
            <a:xfrm>
              <a:off x="2051720" y="3356992"/>
              <a:ext cx="6768752" cy="1804749"/>
            </a:xfrm>
            <a:prstGeom prst="flowChartAlternateProcess">
              <a:avLst/>
            </a:prstGeom>
            <a:solidFill>
              <a:srgbClr val="FFFF99"/>
            </a:solidFill>
            <a:ln>
              <a:solidFill>
                <a:srgbClr val="FFFF99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solidFill>
                    <a:schemeClr val="dk1"/>
                  </a:solidFill>
                  <a:latin typeface="Century Gothic" pitchFamily="34" charset="0"/>
                  <a:ea typeface="Calibri"/>
                  <a:cs typeface="Times New Roman"/>
                </a:rPr>
                <a:t>	</a:t>
              </a: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. Clima cordial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Tareas tranquilas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342900" lvl="0" indent="-342900">
                <a:spcAft>
                  <a:spcPts val="0"/>
                </a:spcAft>
                <a:buFont typeface="Symbol"/>
                <a:buNone/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Rutina pautada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Trabajo en equipo</a:t>
              </a:r>
              <a:endParaRPr lang="es-ES" sz="2000" b="1" dirty="0" smtClean="0">
                <a:latin typeface="Century Gothic" pitchFamily="34" charset="0"/>
                <a:ea typeface="Calibri"/>
                <a:cs typeface="Times New Roman"/>
              </a:endParaRPr>
            </a:p>
            <a:p>
              <a:pPr marL="228600" indent="-228600">
                <a:spcAft>
                  <a:spcPts val="0"/>
                </a:spcAft>
                <a:tabLst>
                  <a:tab pos="228600" algn="l"/>
                </a:tabLst>
              </a:pPr>
              <a:r>
                <a:rPr lang="es-ES_tradnl" sz="2000" b="1" dirty="0" smtClean="0">
                  <a:latin typeface="Century Gothic" pitchFamily="34" charset="0"/>
                  <a:ea typeface="Calibri"/>
                  <a:cs typeface="Times New Roman"/>
                </a:rPr>
                <a:t>            . Estabilidad</a:t>
              </a:r>
              <a:endParaRPr lang="es-ES" sz="2000" b="1" dirty="0">
                <a:latin typeface="Century Gothic" pitchFamily="34" charset="0"/>
                <a:ea typeface="Calibri"/>
                <a:cs typeface="Times New Roman"/>
              </a:endParaRPr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107504" y="3766626"/>
              <a:ext cx="2808312" cy="886510"/>
            </a:xfrm>
            <a:prstGeom prst="notched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s-ES_tradnl" sz="2000" b="1" i="1" dirty="0" smtClean="0">
                  <a:solidFill>
                    <a:schemeClr val="tx1"/>
                  </a:solidFill>
                  <a:latin typeface="Century Gothic"/>
                  <a:ea typeface="Calibri"/>
                  <a:cs typeface="Times New Roman"/>
                </a:rPr>
                <a:t>LO MOTIVA</a:t>
              </a:r>
              <a:endParaRPr lang="es-ES" sz="2000" b="1" i="1" dirty="0" smtClean="0">
                <a:solidFill>
                  <a:schemeClr val="tx1"/>
                </a:solidFill>
                <a:latin typeface="Century Gothic"/>
                <a:ea typeface="Calibri"/>
                <a:cs typeface="Times New Roman"/>
              </a:endParaRPr>
            </a:p>
          </p:txBody>
        </p:sp>
      </p:grpSp>
      <p:sp>
        <p:nvSpPr>
          <p:cNvPr id="26" name="25 CuadroTexto"/>
          <p:cNvSpPr txBox="1"/>
          <p:nvPr/>
        </p:nvSpPr>
        <p:spPr>
          <a:xfrm>
            <a:off x="251520" y="620688"/>
            <a:ext cx="4464496" cy="715089"/>
          </a:xfrm>
          <a:prstGeom prst="wedgeRoundRectCallout">
            <a:avLst>
              <a:gd name="adj1" fmla="val -18916"/>
              <a:gd name="adj2" fmla="val 124660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sz="3600" b="1" i="1" dirty="0" smtClean="0">
                <a:latin typeface="Century Gothic"/>
                <a:ea typeface="Calibri"/>
                <a:cs typeface="Times New Roman"/>
              </a:rPr>
              <a:t>COLABORADOR</a:t>
            </a:r>
            <a:endParaRPr lang="es-ES" sz="3600" dirty="0"/>
          </a:p>
        </p:txBody>
      </p:sp>
      <p:sp>
        <p:nvSpPr>
          <p:cNvPr id="16" name="15 CuadroTexto"/>
          <p:cNvSpPr txBox="1"/>
          <p:nvPr/>
        </p:nvSpPr>
        <p:spPr>
          <a:xfrm>
            <a:off x="1187624" y="260648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b="1" spc="100" dirty="0" smtClean="0">
                <a:solidFill>
                  <a:schemeClr val="tx2"/>
                </a:solidFill>
                <a:latin typeface="Arial Black" pitchFamily="34" charset="0"/>
                <a:cs typeface="+mn-cs"/>
              </a:rPr>
              <a:t>ESTILOS MOTIVACIONALES</a:t>
            </a:r>
            <a:endParaRPr lang="es-ES" b="1" spc="100" dirty="0">
              <a:solidFill>
                <a:schemeClr val="tx2"/>
              </a:solidFill>
              <a:latin typeface="Arial Black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443</Words>
  <Application>Microsoft Office PowerPoint</Application>
  <PresentationFormat>Presentación en pantalla (4:3)</PresentationFormat>
  <Paragraphs>147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Miguel</dc:creator>
  <cp:lastModifiedBy>Miguel Abadi</cp:lastModifiedBy>
  <cp:revision>46</cp:revision>
  <dcterms:created xsi:type="dcterms:W3CDTF">2010-11-13T10:27:23Z</dcterms:created>
  <dcterms:modified xsi:type="dcterms:W3CDTF">2018-10-24T21:06:08Z</dcterms:modified>
</cp:coreProperties>
</file>