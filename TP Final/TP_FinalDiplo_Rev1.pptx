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rco común" id="{1979D09E-D406-D7E3-3944-F1559A67FEFC}">
          <p14:sldIdLst>
            <p14:sldId id="256"/>
            <p14:sldId id="257"/>
            <p14:sldId id="258"/>
            <p14:sldId id="259"/>
            <p14:sldId id="260"/>
          </p14:sldIdLst>
        </p14:section>
        <p14:section name="Equipo A · Estilo argentino" id="{88C828A4-8EA1-6A4A-AFD0-6163F9ACF46C}">
          <p14:sldIdLst>
            <p14:sldId id="261"/>
            <p14:sldId id="262"/>
            <p14:sldId id="263"/>
            <p14:sldId id="264"/>
            <p14:sldId id="265"/>
          </p14:sldIdLst>
        </p14:section>
        <p14:section name="Equipo B · Estilo estadounidense" id="{22BE3EEF-BE05-8D17-E7D1-0CAC3EDC674B}">
          <p14:sldIdLst>
            <p14:sldId id="266"/>
            <p14:sldId id="267"/>
            <p14:sldId id="268"/>
            <p14:sldId id="269"/>
            <p14:sldId id="270"/>
          </p14:sldIdLst>
        </p14:section>
        <p14:section name="Réplica y cierre" id="{6502E848-BB34-39E5-8209-826B94A9AE5A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Argentina</c:v>
                </c:pt>
              </c:strCache>
            </c:strRef>
          </c:tx>
          <c:spPr>
            <a:solidFill>
              <a:srgbClr val="2F78B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Distancia al poder</c:v>
                </c:pt>
                <c:pt idx="1">
                  <c:v>Individualismo</c:v>
                </c:pt>
                <c:pt idx="2">
                  <c:v>Masculinidad</c:v>
                </c:pt>
                <c:pt idx="3">
                  <c:v>Evitación incertidymbre</c:v>
                </c:pt>
                <c:pt idx="4">
                  <c:v>Orient. largo plazo</c:v>
                </c:pt>
                <c:pt idx="5">
                  <c:v>Indulgencia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</c:v>
                </c:pt>
                <c:pt idx="1">
                  <c:v>46</c:v>
                </c:pt>
                <c:pt idx="2">
                  <c:v>56</c:v>
                </c:pt>
                <c:pt idx="3">
                  <c:v>86</c:v>
                </c:pt>
                <c:pt idx="4">
                  <c:v>20</c:v>
                </c:pt>
                <c:pt idx="5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0A-4D74-BCA4-673F6380FE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Estados Unidos</c:v>
                </c:pt>
              </c:strCache>
            </c:strRef>
          </c:tx>
          <c:spPr>
            <a:solidFill>
              <a:srgbClr val="B222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Distancia al poder</c:v>
                </c:pt>
                <c:pt idx="1">
                  <c:v>Individualismo</c:v>
                </c:pt>
                <c:pt idx="2">
                  <c:v>Masculinidad</c:v>
                </c:pt>
                <c:pt idx="3">
                  <c:v>Evitación incertidymbre</c:v>
                </c:pt>
                <c:pt idx="4">
                  <c:v>Orient. largo plazo</c:v>
                </c:pt>
                <c:pt idx="5">
                  <c:v>Indulgencia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91</c:v>
                </c:pt>
                <c:pt idx="2">
                  <c:v>62</c:v>
                </c:pt>
                <c:pt idx="3">
                  <c:v>46</c:v>
                </c:pt>
                <c:pt idx="4">
                  <c:v>26</c:v>
                </c:pt>
                <c:pt idx="5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0A-4D74-BCA4-673F6380F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53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formato: debate entre dos equipos, cada uno defiende un estilo con teoría. La clase vota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las cuatro etapas y la regla. Tiempo total: unos 30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de 0 a 100. Las dos grandes brechas son individualismo y evitación de la incertidumbre.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GLOBE (House et al., 2004) estudió 62 sociedades y las agrupó en regiones culturales. Usamos comparaciones relativas entre las dos regiones, no puntajes de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autores clásicos de comunicación intercultural que coinciden en ubicar a EE.UU. y a América Latina en extremos opuestos.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A defiende que el estilo argentino es más humano y más preparado para la incertidumbre.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cuatro pilares y su respaldo teórico. Cada pilar se desarrolla en las siguientes diapositivas.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del argumento: lo que en EE.UU. se vería como intromisión, en AR se vive como cuidado. Martínez lo vincula con benevolencia del líder, control de las decisiones y prácticas de recursos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Equipo A. Conectar con el concepto RUPT de la clase: lo que hoy le cuesta a todo el mundo, Argentina lo practica hace décadas.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 agregado sobre equipos híbridos. Conecta con el trabajo previo «Liderar sin compartir siempre el mismo espacio».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B defiende que el estilo estadounidense es más justo, más escalable y desarrolla mejor a las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cuatro pilares y su respaldo teórico.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fuerte: el estilo estadounidense es enseñable y replicable porque está sistematizado en herramientas.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Equipo B. Conectar con el bloque de diversidad: criterios explícitos ayudan a reducir sesgos en promociones.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 agregado sobre equipos híbridos.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críticas al estilo argentino vienen de autores argentinos: Nino sobre la anomia, O'Donnell sobre la relación con la autoridad, Petit y otros sobre el paternalismo.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equipo tiene 90 segundos para responder. Puede ser actuado como role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esperable es que la votación se reparta según la pregunta. Eso es lo que permite la conclusión de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general y apertura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de referencias. Revisar formato de cita que pida la cátedra.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2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2588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ADCF0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2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1546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CADCF0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</a:rPr>
              <a:t>Diplomatura en Liderazgo y Conducción de Equipos · ENAP · Posgrado Económicas UBA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</a:rPr>
              <a:t>TRABAJO FINAL INTEGRADOR · DEBATE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258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¿Liderar al estilo argentino o al estilo estadounidense?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rgbClr val="CADCF0"/>
                </a:solidFill>
              </a:rPr>
              <a:t>Diferentes</a:t>
            </a:r>
            <a:r>
              <a:rPr lang="en-US" sz="1800" dirty="0">
                <a:solidFill>
                  <a:srgbClr val="CADCF0"/>
                </a:solidFill>
              </a:rPr>
              <a:t> </a:t>
            </a:r>
            <a:r>
              <a:rPr lang="en-US" sz="1800" dirty="0" err="1">
                <a:solidFill>
                  <a:srgbClr val="CADCF0"/>
                </a:solidFill>
              </a:rPr>
              <a:t>culturas</a:t>
            </a:r>
            <a:r>
              <a:rPr lang="en-US" sz="1800" dirty="0">
                <a:solidFill>
                  <a:srgbClr val="CADCF0"/>
                </a:solidFill>
              </a:rPr>
              <a:t>, </a:t>
            </a:r>
            <a:r>
              <a:rPr lang="en-US" sz="1800" dirty="0" err="1">
                <a:solidFill>
                  <a:srgbClr val="CADCF0"/>
                </a:solidFill>
              </a:rPr>
              <a:t>diferentes</a:t>
            </a:r>
            <a:r>
              <a:rPr lang="en-US" sz="1800" dirty="0">
                <a:solidFill>
                  <a:srgbClr val="CADCF0"/>
                </a:solidFill>
              </a:rPr>
              <a:t> </a:t>
            </a:r>
            <a:r>
              <a:rPr lang="en-US" sz="1800" dirty="0" err="1">
                <a:solidFill>
                  <a:srgbClr val="CADCF0"/>
                </a:solidFill>
              </a:rPr>
              <a:t>liderazgos</a:t>
            </a:r>
            <a:r>
              <a:rPr lang="en-US" dirty="0"/>
              <a:t>.</a:t>
            </a:r>
            <a:endParaRPr lang="en-US" sz="1800" dirty="0"/>
          </a:p>
        </p:txBody>
      </p:sp>
      <p:sp>
        <p:nvSpPr>
          <p:cNvPr id="5" name="s1"/>
          <p:cNvSpPr/>
          <p:nvPr/>
        </p:nvSpPr>
        <p:spPr>
          <a:xfrm>
            <a:off x="6720840" y="36118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2"/>
          <p:cNvSpPr/>
          <p:nvPr/>
        </p:nvSpPr>
        <p:spPr>
          <a:xfrm>
            <a:off x="7360920" y="3611880"/>
            <a:ext cx="914400" cy="91440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3"/>
          <p:cNvSpPr txBox="1"/>
          <p:nvPr/>
        </p:nvSpPr>
        <p:spPr>
          <a:xfrm>
            <a:off x="6720840" y="361188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800" dirty="0"/>
          </a:p>
        </p:txBody>
      </p:sp>
      <p:sp>
        <p:nvSpPr>
          <p:cNvPr id="8" name="t4"/>
          <p:cNvSpPr txBox="1"/>
          <p:nvPr/>
        </p:nvSpPr>
        <p:spPr>
          <a:xfrm>
            <a:off x="7589520" y="361188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800" dirty="0"/>
          </a:p>
        </p:txBody>
      </p:sp>
      <p:sp>
        <p:nvSpPr>
          <p:cNvPr id="9" name="t5"/>
          <p:cNvSpPr txBox="1"/>
          <p:nvPr/>
        </p:nvSpPr>
        <p:spPr>
          <a:xfrm>
            <a:off x="548640" y="4069080"/>
            <a:ext cx="603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Diplomatura en Liderazgo y Conducción de </a:t>
            </a:r>
            <a:r>
              <a:rPr lang="en-US" sz="1200" dirty="0" err="1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Posgrado Económicas UBA ·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A: Cintia Beltrán y Marcelo Longobucco · Equipo B: Facundo Barrionuevo y Camila </a:t>
            </a:r>
            <a:r>
              <a:rPr lang="en-US" sz="1200" dirty="0" err="1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Pirchio</a:t>
            </a: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MARCO COMÚN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el debate</a:t>
            </a:r>
            <a:endParaRPr lang="en-US" sz="28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  <p:sp>
        <p:nvSpPr>
          <p:cNvPr id="5" name="s6"/>
          <p:cNvSpPr/>
          <p:nvPr/>
        </p:nvSpPr>
        <p:spPr>
          <a:xfrm>
            <a:off x="457200" y="1280160"/>
            <a:ext cx="1851660" cy="265176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7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86484"/>
            <a:ext cx="256032" cy="256032"/>
          </a:xfrm>
          <a:prstGeom prst="rect">
            <a:avLst/>
          </a:prstGeom>
        </p:spPr>
      </p:pic>
      <p:sp>
        <p:nvSpPr>
          <p:cNvPr id="8" name="t9"/>
          <p:cNvSpPr txBox="1"/>
          <p:nvPr/>
        </p:nvSpPr>
        <p:spPr>
          <a:xfrm>
            <a:off x="64008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Marco común</a:t>
            </a:r>
            <a:endParaRPr lang="en-US" sz="1600" dirty="0"/>
          </a:p>
        </p:txBody>
      </p:sp>
      <p:sp>
        <p:nvSpPr>
          <p:cNvPr id="9" name="t10"/>
          <p:cNvSpPr txBox="1"/>
          <p:nvPr/>
        </p:nvSpPr>
        <p:spPr>
          <a:xfrm>
            <a:off x="640080" y="2670048"/>
            <a:ext cx="1485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teorías que usan los dos equipos.</a:t>
            </a:r>
            <a:endParaRPr lang="en-US" sz="1400" dirty="0"/>
          </a:p>
        </p:txBody>
      </p:sp>
      <p:sp>
        <p:nvSpPr>
          <p:cNvPr id="10" name="t11"/>
          <p:cNvSpPr txBox="1"/>
          <p:nvPr/>
        </p:nvSpPr>
        <p:spPr>
          <a:xfrm>
            <a:off x="640080" y="354787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· todos</a:t>
            </a:r>
            <a:endParaRPr lang="en-US" sz="1000" dirty="0"/>
          </a:p>
        </p:txBody>
      </p:sp>
      <p:sp>
        <p:nvSpPr>
          <p:cNvPr id="11" name="s12"/>
          <p:cNvSpPr/>
          <p:nvPr/>
        </p:nvSpPr>
        <p:spPr>
          <a:xfrm>
            <a:off x="2583180" y="1280160"/>
            <a:ext cx="1851660" cy="265176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13"/>
          <p:cNvSpPr/>
          <p:nvPr/>
        </p:nvSpPr>
        <p:spPr>
          <a:xfrm>
            <a:off x="27660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1586484"/>
            <a:ext cx="256032" cy="256032"/>
          </a:xfrm>
          <a:prstGeom prst="rect">
            <a:avLst/>
          </a:prstGeom>
        </p:spPr>
      </p:pic>
      <p:sp>
        <p:nvSpPr>
          <p:cNvPr id="14" name="t15"/>
          <p:cNvSpPr txBox="1"/>
          <p:nvPr/>
        </p:nvSpPr>
        <p:spPr>
          <a:xfrm>
            <a:off x="276606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Exposiciones</a:t>
            </a:r>
            <a:endParaRPr lang="en-US" sz="1600" dirty="0"/>
          </a:p>
        </p:txBody>
      </p:sp>
      <p:sp>
        <p:nvSpPr>
          <p:cNvPr id="15" name="t16"/>
          <p:cNvSpPr txBox="1"/>
          <p:nvPr/>
        </p:nvSpPr>
        <p:spPr>
          <a:xfrm>
            <a:off x="2766060" y="2670048"/>
            <a:ext cx="1485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defiende su estilo con evidencia.</a:t>
            </a:r>
            <a:endParaRPr lang="en-US" sz="1400" dirty="0"/>
          </a:p>
        </p:txBody>
      </p:sp>
      <p:sp>
        <p:nvSpPr>
          <p:cNvPr id="16" name="t17"/>
          <p:cNvSpPr txBox="1"/>
          <p:nvPr/>
        </p:nvSpPr>
        <p:spPr>
          <a:xfrm>
            <a:off x="2766060" y="354787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 por equipo</a:t>
            </a:r>
            <a:endParaRPr lang="en-US" sz="1000" dirty="0"/>
          </a:p>
        </p:txBody>
      </p:sp>
      <p:sp>
        <p:nvSpPr>
          <p:cNvPr id="17" name="s18"/>
          <p:cNvSpPr/>
          <p:nvPr/>
        </p:nvSpPr>
        <p:spPr>
          <a:xfrm>
            <a:off x="4709160" y="1280160"/>
            <a:ext cx="1851660" cy="265176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19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c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484" y="1586484"/>
            <a:ext cx="256032" cy="256032"/>
          </a:xfrm>
          <a:prstGeom prst="rect">
            <a:avLst/>
          </a:prstGeom>
        </p:spPr>
      </p:pic>
      <p:sp>
        <p:nvSpPr>
          <p:cNvPr id="20" name="t21"/>
          <p:cNvSpPr txBox="1"/>
          <p:nvPr/>
        </p:nvSpPr>
        <p:spPr>
          <a:xfrm>
            <a:off x="489204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Réplica y caso</a:t>
            </a:r>
            <a:endParaRPr lang="en-US" sz="1600" dirty="0"/>
          </a:p>
        </p:txBody>
      </p:sp>
      <p:sp>
        <p:nvSpPr>
          <p:cNvPr id="21" name="t22"/>
          <p:cNvSpPr txBox="1"/>
          <p:nvPr/>
        </p:nvSpPr>
        <p:spPr>
          <a:xfrm>
            <a:off x="4892040" y="2670048"/>
            <a:ext cx="1485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ataca el punto débil del otro y resuelve un caso.</a:t>
            </a:r>
            <a:endParaRPr lang="en-US" sz="1400" dirty="0"/>
          </a:p>
        </p:txBody>
      </p:sp>
      <p:sp>
        <p:nvSpPr>
          <p:cNvPr id="22" name="t23"/>
          <p:cNvSpPr txBox="1"/>
          <p:nvPr/>
        </p:nvSpPr>
        <p:spPr>
          <a:xfrm>
            <a:off x="4892040" y="354787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000" dirty="0"/>
          </a:p>
        </p:txBody>
      </p:sp>
      <p:sp>
        <p:nvSpPr>
          <p:cNvPr id="23" name="s24"/>
          <p:cNvSpPr/>
          <p:nvPr/>
        </p:nvSpPr>
        <p:spPr>
          <a:xfrm>
            <a:off x="6835140" y="1280160"/>
            <a:ext cx="1851660" cy="265176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25"/>
          <p:cNvSpPr/>
          <p:nvPr/>
        </p:nvSpPr>
        <p:spPr>
          <a:xfrm>
            <a:off x="701802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2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1586484"/>
            <a:ext cx="256032" cy="256032"/>
          </a:xfrm>
          <a:prstGeom prst="rect">
            <a:avLst/>
          </a:prstGeom>
        </p:spPr>
      </p:pic>
      <p:sp>
        <p:nvSpPr>
          <p:cNvPr id="26" name="t27"/>
          <p:cNvSpPr txBox="1"/>
          <p:nvPr/>
        </p:nvSpPr>
        <p:spPr>
          <a:xfrm>
            <a:off x="701802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Votación</a:t>
            </a:r>
            <a:endParaRPr lang="en-US" sz="1600" dirty="0"/>
          </a:p>
        </p:txBody>
      </p:sp>
      <p:sp>
        <p:nvSpPr>
          <p:cNvPr id="27" name="t28"/>
          <p:cNvSpPr txBox="1"/>
          <p:nvPr/>
        </p:nvSpPr>
        <p:spPr>
          <a:xfrm>
            <a:off x="7018020" y="2670048"/>
            <a:ext cx="14859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vota y cerramos con una conclusión.</a:t>
            </a:r>
            <a:endParaRPr lang="en-US" sz="1400" dirty="0"/>
          </a:p>
        </p:txBody>
      </p:sp>
      <p:sp>
        <p:nvSpPr>
          <p:cNvPr id="28" name="t29"/>
          <p:cNvSpPr txBox="1"/>
          <p:nvPr/>
        </p:nvSpPr>
        <p:spPr>
          <a:xfrm>
            <a:off x="7018020" y="354787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29" name="s30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3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183380"/>
            <a:ext cx="274320" cy="274320"/>
          </a:xfrm>
          <a:prstGeom prst="rect">
            <a:avLst/>
          </a:prstGeom>
        </p:spPr>
      </p:pic>
      <p:sp>
        <p:nvSpPr>
          <p:cNvPr id="31" name="t32"/>
          <p:cNvSpPr txBox="1"/>
          <p:nvPr/>
        </p:nvSpPr>
        <p:spPr>
          <a:xfrm>
            <a:off x="1024128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debate: todo argumento tiene que apoyarse en una teoría o en un dato, no en una anécdota.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MARCO COMÚN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1: las dimensiones de Hofstede</a:t>
            </a:r>
            <a:endParaRPr lang="en-US" sz="2800" dirty="0"/>
          </a:p>
        </p:txBody>
      </p:sp>
      <p:graphicFrame>
        <p:nvGraphicFramePr>
          <p:cNvPr id="5" name="chart33"/>
          <p:cNvGraphicFramePr/>
          <p:nvPr>
            <p:extLst>
              <p:ext uri="{D42A27DB-BD31-4B8C-83A1-F6EECF244321}">
                <p14:modId xmlns:p14="http://schemas.microsoft.com/office/powerpoint/2010/main" val="960911667"/>
              </p:ext>
            </p:extLst>
          </p:nvPr>
        </p:nvGraphicFramePr>
        <p:xfrm>
          <a:off x="365760" y="1188720"/>
          <a:ext cx="53949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34"/>
          <p:cNvSpPr/>
          <p:nvPr/>
        </p:nvSpPr>
        <p:spPr>
          <a:xfrm>
            <a:off x="5989320" y="1234440"/>
            <a:ext cx="2697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35"/>
          <p:cNvSpPr txBox="1"/>
          <p:nvPr/>
        </p:nvSpPr>
        <p:spPr>
          <a:xfrm>
            <a:off x="6126480" y="1307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vs 91</a:t>
            </a:r>
            <a:endParaRPr lang="en-US" sz="2200" dirty="0"/>
          </a:p>
        </p:txBody>
      </p:sp>
      <p:sp>
        <p:nvSpPr>
          <p:cNvPr id="8" name="t36"/>
          <p:cNvSpPr txBox="1"/>
          <p:nvPr/>
        </p:nvSpPr>
        <p:spPr>
          <a:xfrm>
            <a:off x="6126480" y="1673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Individualismo: EE.UU. pone el foco en el logro individual; AR, en el grupo.</a:t>
            </a:r>
            <a:endParaRPr lang="en-US" sz="1200" dirty="0"/>
          </a:p>
        </p:txBody>
      </p:sp>
      <p:sp>
        <p:nvSpPr>
          <p:cNvPr id="9" name="s37"/>
          <p:cNvSpPr/>
          <p:nvPr/>
        </p:nvSpPr>
        <p:spPr>
          <a:xfrm>
            <a:off x="5989320" y="2286000"/>
            <a:ext cx="2697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38"/>
          <p:cNvSpPr txBox="1"/>
          <p:nvPr/>
        </p:nvSpPr>
        <p:spPr>
          <a:xfrm>
            <a:off x="6126480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 vs 46</a:t>
            </a:r>
            <a:endParaRPr lang="en-US" sz="2200" dirty="0"/>
          </a:p>
        </p:txBody>
      </p:sp>
      <p:sp>
        <p:nvSpPr>
          <p:cNvPr id="11" name="t39"/>
          <p:cNvSpPr txBox="1"/>
          <p:nvPr/>
        </p:nvSpPr>
        <p:spPr>
          <a:xfrm>
            <a:off x="6126480" y="2724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Evitación de la incertidumbre: AR busca reglas porque el entorno no las da.</a:t>
            </a:r>
            <a:endParaRPr lang="en-US" sz="1200" dirty="0"/>
          </a:p>
        </p:txBody>
      </p:sp>
      <p:sp>
        <p:nvSpPr>
          <p:cNvPr id="12" name="s40"/>
          <p:cNvSpPr/>
          <p:nvPr/>
        </p:nvSpPr>
        <p:spPr>
          <a:xfrm>
            <a:off x="5989320" y="3337560"/>
            <a:ext cx="2697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41"/>
          <p:cNvSpPr txBox="1"/>
          <p:nvPr/>
        </p:nvSpPr>
        <p:spPr>
          <a:xfrm>
            <a:off x="6126480" y="3410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vs 40</a:t>
            </a:r>
            <a:endParaRPr lang="en-US" sz="2200" dirty="0"/>
          </a:p>
        </p:txBody>
      </p:sp>
      <p:sp>
        <p:nvSpPr>
          <p:cNvPr id="14" name="t42"/>
          <p:cNvSpPr txBox="1"/>
          <p:nvPr/>
        </p:nvSpPr>
        <p:spPr>
          <a:xfrm>
            <a:off x="6126480" y="37764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poder: parecida en el número, distinta en las formas.</a:t>
            </a:r>
            <a:endParaRPr lang="en-US" sz="1200" dirty="0"/>
          </a:p>
        </p:txBody>
      </p:sp>
      <p:sp>
        <p:nvSpPr>
          <p:cNvPr id="15" name="t43"/>
          <p:cNvSpPr txBox="1"/>
          <p:nvPr/>
        </p:nvSpPr>
        <p:spPr>
          <a:xfrm>
            <a:off x="5989320" y="43891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Hofstede, Hofstede y Minkov (2010)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MARCO COMÚN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2: qué liderazgo valora cada región (GLOBE)</a:t>
            </a:r>
            <a:endParaRPr lang="en-US" sz="2800" dirty="0"/>
          </a:p>
        </p:txBody>
      </p:sp>
      <p:graphicFrame>
        <p:nvGraphicFramePr>
          <p:cNvPr id="5" name="tbl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959673"/>
              </p:ext>
            </p:extLst>
          </p:nvPr>
        </p:nvGraphicFramePr>
        <p:xfrm>
          <a:off x="457200" y="1234440"/>
          <a:ext cx="8229600" cy="24140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 de liderazgo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América Latina (incluye 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8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Anglosajón (incluye EE.UU.)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Carismático / basado en valores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valorado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valorado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Orientado al equipo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</a:t>
                      </a:r>
                      <a:r>
                        <a:rPr lang="en-US" sz="13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valorado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(de los </a:t>
                      </a:r>
                      <a:r>
                        <a:rPr lang="en-US" sz="13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altos)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</a:t>
                      </a:r>
                      <a:r>
                        <a:rPr lang="en-US" sz="13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valorado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(de los </a:t>
                      </a:r>
                      <a:r>
                        <a:rPr lang="en-US" sz="13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</a:t>
                      </a: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altos)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Humano (cuidado de las personas)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Autoprotector (estatus, imagen)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tolera más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rechaza más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4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4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29100"/>
            <a:ext cx="274320" cy="274320"/>
          </a:xfrm>
          <a:prstGeom prst="rect">
            <a:avLst/>
          </a:prstGeom>
        </p:spPr>
      </p:pic>
      <p:sp>
        <p:nvSpPr>
          <p:cNvPr id="8" name="t47"/>
          <p:cNvSpPr txBox="1"/>
          <p:nvPr/>
        </p:nvSpPr>
        <p:spPr>
          <a:xfrm>
            <a:off x="1024128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todos valoran es el liderazgo carismático e inspirador. Las diferencias están en equipo vs. participación.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MARCO COMÚN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Lente 3: Hall, Trompenaars y Lewis</a:t>
            </a:r>
            <a:endParaRPr lang="en-US" sz="2800" dirty="0"/>
          </a:p>
        </p:txBody>
      </p:sp>
      <p:sp>
        <p:nvSpPr>
          <p:cNvPr id="5" name="s48"/>
          <p:cNvSpPr/>
          <p:nvPr/>
        </p:nvSpPr>
        <p:spPr>
          <a:xfrm>
            <a:off x="5989320" y="25603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49"/>
          <p:cNvSpPr txBox="1"/>
          <p:nvPr/>
        </p:nvSpPr>
        <p:spPr>
          <a:xfrm>
            <a:off x="5989320" y="256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7" name="t50"/>
          <p:cNvSpPr txBox="1"/>
          <p:nvPr/>
        </p:nvSpPr>
        <p:spPr>
          <a:xfrm>
            <a:off x="6272784" y="256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100" dirty="0"/>
          </a:p>
        </p:txBody>
      </p:sp>
      <p:sp>
        <p:nvSpPr>
          <p:cNvPr id="8" name="s51"/>
          <p:cNvSpPr/>
          <p:nvPr/>
        </p:nvSpPr>
        <p:spPr>
          <a:xfrm>
            <a:off x="7269480" y="256032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52"/>
          <p:cNvSpPr txBox="1"/>
          <p:nvPr/>
        </p:nvSpPr>
        <p:spPr>
          <a:xfrm>
            <a:off x="7269480" y="256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000" dirty="0"/>
          </a:p>
        </p:txBody>
      </p:sp>
      <p:sp>
        <p:nvSpPr>
          <p:cNvPr id="10" name="t53"/>
          <p:cNvSpPr txBox="1"/>
          <p:nvPr/>
        </p:nvSpPr>
        <p:spPr>
          <a:xfrm>
            <a:off x="7552944" y="2560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</a:t>
            </a:r>
            <a:endParaRPr lang="en-US" sz="1100" dirty="0"/>
          </a:p>
        </p:txBody>
      </p:sp>
      <p:sp>
        <p:nvSpPr>
          <p:cNvPr id="11" name="t54"/>
          <p:cNvSpPr txBox="1"/>
          <p:nvPr/>
        </p:nvSpPr>
        <p:spPr>
          <a:xfrm>
            <a:off x="457200" y="1280160"/>
            <a:ext cx="21031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(Hall)</a:t>
            </a:r>
            <a:endParaRPr lang="en-US" sz="1400" dirty="0"/>
          </a:p>
        </p:txBody>
      </p:sp>
      <p:sp>
        <p:nvSpPr>
          <p:cNvPr id="12" name="t55"/>
          <p:cNvSpPr txBox="1"/>
          <p:nvPr/>
        </p:nvSpPr>
        <p:spPr>
          <a:xfrm>
            <a:off x="265176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contexto: importa lo implícito</a:t>
            </a:r>
            <a:endParaRPr lang="en-US" sz="1100" dirty="0"/>
          </a:p>
        </p:txBody>
      </p:sp>
      <p:sp>
        <p:nvSpPr>
          <p:cNvPr id="13" name="t56"/>
          <p:cNvSpPr txBox="1"/>
          <p:nvPr/>
        </p:nvSpPr>
        <p:spPr>
          <a:xfrm>
            <a:off x="59436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contexto: todo se dice explícito</a:t>
            </a:r>
            <a:endParaRPr lang="en-US" sz="1100" dirty="0"/>
          </a:p>
        </p:txBody>
      </p:sp>
      <p:sp>
        <p:nvSpPr>
          <p:cNvPr id="14" name="s57"/>
          <p:cNvSpPr/>
          <p:nvPr/>
        </p:nvSpPr>
        <p:spPr>
          <a:xfrm>
            <a:off x="2651760" y="1672895"/>
            <a:ext cx="6035040" cy="36576"/>
          </a:xfrm>
          <a:prstGeom prst="rect">
            <a:avLst/>
          </a:prstGeom>
          <a:solidFill>
            <a:srgbClr val="C9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60"/>
          <p:cNvSpPr txBox="1"/>
          <p:nvPr/>
        </p:nvSpPr>
        <p:spPr>
          <a:xfrm>
            <a:off x="457200" y="1943100"/>
            <a:ext cx="21031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(Trompenaars)</a:t>
            </a:r>
            <a:endParaRPr lang="en-US" sz="1400" dirty="0"/>
          </a:p>
        </p:txBody>
      </p:sp>
      <p:sp>
        <p:nvSpPr>
          <p:cNvPr id="18" name="t61"/>
          <p:cNvSpPr txBox="1"/>
          <p:nvPr/>
        </p:nvSpPr>
        <p:spPr>
          <a:xfrm>
            <a:off x="2651760" y="19613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Particularismo: depende de la relación</a:t>
            </a:r>
            <a:endParaRPr lang="en-US" sz="1100" dirty="0"/>
          </a:p>
        </p:txBody>
      </p:sp>
      <p:sp>
        <p:nvSpPr>
          <p:cNvPr id="19" name="t62"/>
          <p:cNvSpPr txBox="1"/>
          <p:nvPr/>
        </p:nvSpPr>
        <p:spPr>
          <a:xfrm>
            <a:off x="5943600" y="19613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Universalismo: la regla vale para todos</a:t>
            </a:r>
            <a:endParaRPr lang="en-US" sz="1100" dirty="0"/>
          </a:p>
        </p:txBody>
      </p:sp>
      <p:sp>
        <p:nvSpPr>
          <p:cNvPr id="20" name="s63"/>
          <p:cNvSpPr/>
          <p:nvPr/>
        </p:nvSpPr>
        <p:spPr>
          <a:xfrm>
            <a:off x="2651760" y="2335835"/>
            <a:ext cx="6035040" cy="36576"/>
          </a:xfrm>
          <a:prstGeom prst="rect">
            <a:avLst/>
          </a:prstGeom>
          <a:solidFill>
            <a:srgbClr val="C9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66"/>
          <p:cNvSpPr txBox="1"/>
          <p:nvPr/>
        </p:nvSpPr>
        <p:spPr>
          <a:xfrm>
            <a:off x="457200" y="2606040"/>
            <a:ext cx="21031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(Lewis)</a:t>
            </a:r>
            <a:endParaRPr lang="en-US" sz="1400" dirty="0"/>
          </a:p>
        </p:txBody>
      </p:sp>
      <p:sp>
        <p:nvSpPr>
          <p:cNvPr id="24" name="t67"/>
          <p:cNvSpPr txBox="1"/>
          <p:nvPr/>
        </p:nvSpPr>
        <p:spPr>
          <a:xfrm>
            <a:off x="265176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Multi-activo: varias cosas a la vez</a:t>
            </a:r>
            <a:endParaRPr lang="en-US" sz="1100" dirty="0"/>
          </a:p>
        </p:txBody>
      </p:sp>
      <p:sp>
        <p:nvSpPr>
          <p:cNvPr id="25" name="t68"/>
          <p:cNvSpPr txBox="1"/>
          <p:nvPr/>
        </p:nvSpPr>
        <p:spPr>
          <a:xfrm>
            <a:off x="594360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Lineal-activo: una cosa por vez</a:t>
            </a:r>
            <a:endParaRPr lang="en-US" sz="1100" dirty="0"/>
          </a:p>
        </p:txBody>
      </p:sp>
      <p:sp>
        <p:nvSpPr>
          <p:cNvPr id="26" name="s69"/>
          <p:cNvSpPr/>
          <p:nvPr/>
        </p:nvSpPr>
        <p:spPr>
          <a:xfrm>
            <a:off x="2651760" y="2998775"/>
            <a:ext cx="6035040" cy="36576"/>
          </a:xfrm>
          <a:prstGeom prst="rect">
            <a:avLst/>
          </a:prstGeom>
          <a:solidFill>
            <a:srgbClr val="C9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72"/>
          <p:cNvSpPr txBox="1"/>
          <p:nvPr/>
        </p:nvSpPr>
        <p:spPr>
          <a:xfrm>
            <a:off x="457200" y="3268980"/>
            <a:ext cx="21031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400" dirty="0"/>
          </a:p>
        </p:txBody>
      </p:sp>
      <p:sp>
        <p:nvSpPr>
          <p:cNvPr id="30" name="t73"/>
          <p:cNvSpPr txBox="1"/>
          <p:nvPr/>
        </p:nvSpPr>
        <p:spPr>
          <a:xfrm>
            <a:off x="2651760" y="32872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la relación</a:t>
            </a:r>
            <a:endParaRPr lang="en-US" sz="1100" dirty="0"/>
          </a:p>
        </p:txBody>
      </p:sp>
      <p:sp>
        <p:nvSpPr>
          <p:cNvPr id="31" name="t74"/>
          <p:cNvSpPr txBox="1"/>
          <p:nvPr/>
        </p:nvSpPr>
        <p:spPr>
          <a:xfrm>
            <a:off x="5943600" y="32872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la tarea</a:t>
            </a:r>
            <a:endParaRPr lang="en-US" sz="1100" dirty="0"/>
          </a:p>
        </p:txBody>
      </p:sp>
      <p:sp>
        <p:nvSpPr>
          <p:cNvPr id="32" name="s75"/>
          <p:cNvSpPr/>
          <p:nvPr/>
        </p:nvSpPr>
        <p:spPr>
          <a:xfrm>
            <a:off x="2651760" y="3661715"/>
            <a:ext cx="6035040" cy="36576"/>
          </a:xfrm>
          <a:prstGeom prst="rect">
            <a:avLst/>
          </a:prstGeom>
          <a:solidFill>
            <a:srgbClr val="C9D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78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c7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83380"/>
            <a:ext cx="274320" cy="274320"/>
          </a:xfrm>
          <a:prstGeom prst="rect">
            <a:avLst/>
          </a:prstGeom>
        </p:spPr>
      </p:pic>
      <p:sp>
        <p:nvSpPr>
          <p:cNvPr id="37" name="t80"/>
          <p:cNvSpPr txBox="1"/>
          <p:nvPr/>
        </p:nvSpPr>
        <p:spPr>
          <a:xfrm>
            <a:off x="1024128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posiciones son tendencias regionales que reportan estos autores, no mediciones exactas de cada país.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9" name="s48">
            <a:extLst>
              <a:ext uri="{FF2B5EF4-FFF2-40B4-BE49-F238E27FC236}">
                <a16:creationId xmlns:a16="http://schemas.microsoft.com/office/drawing/2014/main" id="{8CC5640D-6A46-1043-D125-2378038F62AE}"/>
              </a:ext>
            </a:extLst>
          </p:cNvPr>
          <p:cNvSpPr/>
          <p:nvPr/>
        </p:nvSpPr>
        <p:spPr>
          <a:xfrm>
            <a:off x="2368296" y="125958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49">
            <a:extLst>
              <a:ext uri="{FF2B5EF4-FFF2-40B4-BE49-F238E27FC236}">
                <a16:creationId xmlns:a16="http://schemas.microsoft.com/office/drawing/2014/main" id="{ECF837C8-5AA3-865A-88A6-EADCDE42CA26}"/>
              </a:ext>
            </a:extLst>
          </p:cNvPr>
          <p:cNvSpPr txBox="1"/>
          <p:nvPr/>
        </p:nvSpPr>
        <p:spPr>
          <a:xfrm>
            <a:off x="2368296" y="12595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43" name="s48">
            <a:extLst>
              <a:ext uri="{FF2B5EF4-FFF2-40B4-BE49-F238E27FC236}">
                <a16:creationId xmlns:a16="http://schemas.microsoft.com/office/drawing/2014/main" id="{9F7ADECF-7FFB-F578-F4C8-F7BAD4812E8D}"/>
              </a:ext>
            </a:extLst>
          </p:cNvPr>
          <p:cNvSpPr/>
          <p:nvPr/>
        </p:nvSpPr>
        <p:spPr>
          <a:xfrm>
            <a:off x="2368296" y="192480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49">
            <a:extLst>
              <a:ext uri="{FF2B5EF4-FFF2-40B4-BE49-F238E27FC236}">
                <a16:creationId xmlns:a16="http://schemas.microsoft.com/office/drawing/2014/main" id="{3200DEF9-6E99-56DD-3251-FB4CED38AE2B}"/>
              </a:ext>
            </a:extLst>
          </p:cNvPr>
          <p:cNvSpPr txBox="1"/>
          <p:nvPr/>
        </p:nvSpPr>
        <p:spPr>
          <a:xfrm>
            <a:off x="2368296" y="19248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47" name="s48">
            <a:extLst>
              <a:ext uri="{FF2B5EF4-FFF2-40B4-BE49-F238E27FC236}">
                <a16:creationId xmlns:a16="http://schemas.microsoft.com/office/drawing/2014/main" id="{D7AE98AD-BAA7-5AED-21DC-92855C6BEF34}"/>
              </a:ext>
            </a:extLst>
          </p:cNvPr>
          <p:cNvSpPr/>
          <p:nvPr/>
        </p:nvSpPr>
        <p:spPr>
          <a:xfrm>
            <a:off x="2368296" y="25743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49">
            <a:extLst>
              <a:ext uri="{FF2B5EF4-FFF2-40B4-BE49-F238E27FC236}">
                <a16:creationId xmlns:a16="http://schemas.microsoft.com/office/drawing/2014/main" id="{D22D7982-FAD2-35F1-8282-D8BCF2F3EC1F}"/>
              </a:ext>
            </a:extLst>
          </p:cNvPr>
          <p:cNvSpPr txBox="1"/>
          <p:nvPr/>
        </p:nvSpPr>
        <p:spPr>
          <a:xfrm>
            <a:off x="2368296" y="25743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51" name="s48">
            <a:extLst>
              <a:ext uri="{FF2B5EF4-FFF2-40B4-BE49-F238E27FC236}">
                <a16:creationId xmlns:a16="http://schemas.microsoft.com/office/drawing/2014/main" id="{A8C54D79-3770-5E1D-0E89-78FBFBC369A4}"/>
              </a:ext>
            </a:extLst>
          </p:cNvPr>
          <p:cNvSpPr/>
          <p:nvPr/>
        </p:nvSpPr>
        <p:spPr>
          <a:xfrm>
            <a:off x="2368296" y="323011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49">
            <a:extLst>
              <a:ext uri="{FF2B5EF4-FFF2-40B4-BE49-F238E27FC236}">
                <a16:creationId xmlns:a16="http://schemas.microsoft.com/office/drawing/2014/main" id="{4D0424F1-77FC-F531-4A72-99FA925236BA}"/>
              </a:ext>
            </a:extLst>
          </p:cNvPr>
          <p:cNvSpPr txBox="1"/>
          <p:nvPr/>
        </p:nvSpPr>
        <p:spPr>
          <a:xfrm>
            <a:off x="2368296" y="32301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55" name="s51">
            <a:extLst>
              <a:ext uri="{FF2B5EF4-FFF2-40B4-BE49-F238E27FC236}">
                <a16:creationId xmlns:a16="http://schemas.microsoft.com/office/drawing/2014/main" id="{C3C5E44F-FF2D-48A2-1F50-FAD7C51230A1}"/>
              </a:ext>
            </a:extLst>
          </p:cNvPr>
          <p:cNvSpPr/>
          <p:nvPr/>
        </p:nvSpPr>
        <p:spPr>
          <a:xfrm>
            <a:off x="6353423" y="1248156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52">
            <a:extLst>
              <a:ext uri="{FF2B5EF4-FFF2-40B4-BE49-F238E27FC236}">
                <a16:creationId xmlns:a16="http://schemas.microsoft.com/office/drawing/2014/main" id="{7B48E57E-9F85-7331-B6D7-213879F17BC1}"/>
              </a:ext>
            </a:extLst>
          </p:cNvPr>
          <p:cNvSpPr txBox="1"/>
          <p:nvPr/>
        </p:nvSpPr>
        <p:spPr>
          <a:xfrm>
            <a:off x="6353423" y="12481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000" dirty="0"/>
          </a:p>
        </p:txBody>
      </p:sp>
      <p:sp>
        <p:nvSpPr>
          <p:cNvPr id="63" name="s51">
            <a:extLst>
              <a:ext uri="{FF2B5EF4-FFF2-40B4-BE49-F238E27FC236}">
                <a16:creationId xmlns:a16="http://schemas.microsoft.com/office/drawing/2014/main" id="{4839F729-E9CE-D612-8823-FCDF24F4F79F}"/>
              </a:ext>
            </a:extLst>
          </p:cNvPr>
          <p:cNvSpPr/>
          <p:nvPr/>
        </p:nvSpPr>
        <p:spPr>
          <a:xfrm>
            <a:off x="6227064" y="1928927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52">
            <a:extLst>
              <a:ext uri="{FF2B5EF4-FFF2-40B4-BE49-F238E27FC236}">
                <a16:creationId xmlns:a16="http://schemas.microsoft.com/office/drawing/2014/main" id="{1F8838DA-9CA3-8B9D-94A2-794888ED97C3}"/>
              </a:ext>
            </a:extLst>
          </p:cNvPr>
          <p:cNvSpPr txBox="1"/>
          <p:nvPr/>
        </p:nvSpPr>
        <p:spPr>
          <a:xfrm>
            <a:off x="6227064" y="192892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000" dirty="0"/>
          </a:p>
        </p:txBody>
      </p:sp>
      <p:sp>
        <p:nvSpPr>
          <p:cNvPr id="67" name="s51">
            <a:extLst>
              <a:ext uri="{FF2B5EF4-FFF2-40B4-BE49-F238E27FC236}">
                <a16:creationId xmlns:a16="http://schemas.microsoft.com/office/drawing/2014/main" id="{CB65F642-8C80-1691-95B3-A89D4669C0D3}"/>
              </a:ext>
            </a:extLst>
          </p:cNvPr>
          <p:cNvSpPr/>
          <p:nvPr/>
        </p:nvSpPr>
        <p:spPr>
          <a:xfrm>
            <a:off x="6661536" y="2588209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52">
            <a:extLst>
              <a:ext uri="{FF2B5EF4-FFF2-40B4-BE49-F238E27FC236}">
                <a16:creationId xmlns:a16="http://schemas.microsoft.com/office/drawing/2014/main" id="{13844B11-945C-3BC7-8A91-DE57EA5A2039}"/>
              </a:ext>
            </a:extLst>
          </p:cNvPr>
          <p:cNvSpPr txBox="1"/>
          <p:nvPr/>
        </p:nvSpPr>
        <p:spPr>
          <a:xfrm>
            <a:off x="6661536" y="258820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000" dirty="0"/>
          </a:p>
        </p:txBody>
      </p:sp>
      <p:sp>
        <p:nvSpPr>
          <p:cNvPr id="71" name="s51">
            <a:extLst>
              <a:ext uri="{FF2B5EF4-FFF2-40B4-BE49-F238E27FC236}">
                <a16:creationId xmlns:a16="http://schemas.microsoft.com/office/drawing/2014/main" id="{23577D70-DAFE-F30D-EC8A-473086399108}"/>
              </a:ext>
            </a:extLst>
          </p:cNvPr>
          <p:cNvSpPr/>
          <p:nvPr/>
        </p:nvSpPr>
        <p:spPr>
          <a:xfrm>
            <a:off x="7388352" y="3251149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52">
            <a:extLst>
              <a:ext uri="{FF2B5EF4-FFF2-40B4-BE49-F238E27FC236}">
                <a16:creationId xmlns:a16="http://schemas.microsoft.com/office/drawing/2014/main" id="{40EAA7BA-86F3-827A-CC4C-9F48DF1B7754}"/>
              </a:ext>
            </a:extLst>
          </p:cNvPr>
          <p:cNvSpPr txBox="1"/>
          <p:nvPr/>
        </p:nvSpPr>
        <p:spPr>
          <a:xfrm>
            <a:off x="7388352" y="32511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</a:rPr>
              <a:t>EQUIPO A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Liderar al estilo argentino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154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0"/>
                </a:solidFill>
              </a:rPr>
              <a:t>Vínculo, protección y cintura para la crisis</a:t>
            </a:r>
            <a:endParaRPr lang="en-US" sz="1600" dirty="0"/>
          </a:p>
        </p:txBody>
      </p:sp>
      <p:sp>
        <p:nvSpPr>
          <p:cNvPr id="5" name="s8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1E33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c8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65960"/>
            <a:ext cx="1005840" cy="1005840"/>
          </a:xfrm>
          <a:prstGeom prst="rect">
            <a:avLst/>
          </a:prstGeom>
        </p:spPr>
      </p:pic>
      <p:sp>
        <p:nvSpPr>
          <p:cNvPr id="7" name="t83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Equipo A · Cintia Beltrán y Marcelo Longobucco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A · LIDERAR AL ESTILO ARGENTINO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pilares del estilo argentino</a:t>
            </a:r>
            <a:endParaRPr lang="en-US" sz="2800" dirty="0"/>
          </a:p>
        </p:txBody>
      </p:sp>
      <p:sp>
        <p:nvSpPr>
          <p:cNvPr id="5" name="s84"/>
          <p:cNvSpPr/>
          <p:nvPr/>
        </p:nvSpPr>
        <p:spPr>
          <a:xfrm>
            <a:off x="45720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85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8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86484"/>
            <a:ext cx="256032" cy="256032"/>
          </a:xfrm>
          <a:prstGeom prst="rect">
            <a:avLst/>
          </a:prstGeom>
        </p:spPr>
      </p:pic>
      <p:sp>
        <p:nvSpPr>
          <p:cNvPr id="8" name="t87"/>
          <p:cNvSpPr txBox="1"/>
          <p:nvPr/>
        </p:nvSpPr>
        <p:spPr>
          <a:xfrm>
            <a:off x="64008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Paternalismo positivo</a:t>
            </a:r>
            <a:endParaRPr lang="en-US" sz="1600" dirty="0"/>
          </a:p>
        </p:txBody>
      </p:sp>
      <p:sp>
        <p:nvSpPr>
          <p:cNvPr id="9" name="t88"/>
          <p:cNvSpPr txBox="1"/>
          <p:nvPr/>
        </p:nvSpPr>
        <p:spPr>
          <a:xfrm>
            <a:off x="64008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líder cuida a su gente; el equipo responde con lealtad.</a:t>
            </a:r>
            <a:endParaRPr lang="en-US" sz="1400" dirty="0"/>
          </a:p>
        </p:txBody>
      </p:sp>
      <p:sp>
        <p:nvSpPr>
          <p:cNvPr id="10" name="t89"/>
          <p:cNvSpPr txBox="1"/>
          <p:nvPr/>
        </p:nvSpPr>
        <p:spPr>
          <a:xfrm>
            <a:off x="64008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 (2005)</a:t>
            </a:r>
            <a:endParaRPr lang="en-US" sz="1000" dirty="0"/>
          </a:p>
        </p:txBody>
      </p:sp>
      <p:sp>
        <p:nvSpPr>
          <p:cNvPr id="11" name="s90"/>
          <p:cNvSpPr/>
          <p:nvPr/>
        </p:nvSpPr>
        <p:spPr>
          <a:xfrm>
            <a:off x="258318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91"/>
          <p:cNvSpPr/>
          <p:nvPr/>
        </p:nvSpPr>
        <p:spPr>
          <a:xfrm>
            <a:off x="276606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9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1586484"/>
            <a:ext cx="256032" cy="256032"/>
          </a:xfrm>
          <a:prstGeom prst="rect">
            <a:avLst/>
          </a:prstGeom>
        </p:spPr>
      </p:pic>
      <p:sp>
        <p:nvSpPr>
          <p:cNvPr id="14" name="t93"/>
          <p:cNvSpPr txBox="1"/>
          <p:nvPr/>
        </p:nvSpPr>
        <p:spPr>
          <a:xfrm>
            <a:off x="276606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Orientación al equipo</a:t>
            </a:r>
            <a:endParaRPr lang="en-US" sz="1600" dirty="0"/>
          </a:p>
        </p:txBody>
      </p:sp>
      <p:sp>
        <p:nvSpPr>
          <p:cNvPr id="15" name="t94"/>
          <p:cNvSpPr txBox="1"/>
          <p:nvPr/>
        </p:nvSpPr>
        <p:spPr>
          <a:xfrm>
            <a:off x="276606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y el vínculo están antes que el logro individual.</a:t>
            </a:r>
            <a:endParaRPr lang="en-US" sz="1400" dirty="0"/>
          </a:p>
        </p:txBody>
      </p:sp>
      <p:sp>
        <p:nvSpPr>
          <p:cNvPr id="16" name="t95"/>
          <p:cNvSpPr txBox="1"/>
          <p:nvPr/>
        </p:nvSpPr>
        <p:spPr>
          <a:xfrm>
            <a:off x="276606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 (2004); Hofstede</a:t>
            </a:r>
            <a:endParaRPr lang="en-US" sz="1000" dirty="0"/>
          </a:p>
        </p:txBody>
      </p:sp>
      <p:sp>
        <p:nvSpPr>
          <p:cNvPr id="17" name="s96"/>
          <p:cNvSpPr/>
          <p:nvPr/>
        </p:nvSpPr>
        <p:spPr>
          <a:xfrm>
            <a:off x="470916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97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c9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484" y="1586484"/>
            <a:ext cx="256032" cy="256032"/>
          </a:xfrm>
          <a:prstGeom prst="rect">
            <a:avLst/>
          </a:prstGeom>
        </p:spPr>
      </p:pic>
      <p:sp>
        <p:nvSpPr>
          <p:cNvPr id="20" name="t99"/>
          <p:cNvSpPr txBox="1"/>
          <p:nvPr/>
        </p:nvSpPr>
        <p:spPr>
          <a:xfrm>
            <a:off x="489204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Cintura para la crisis</a:t>
            </a:r>
            <a:endParaRPr lang="en-US" sz="1600" dirty="0"/>
          </a:p>
        </p:txBody>
      </p:sp>
      <p:sp>
        <p:nvSpPr>
          <p:cNvPr id="21" name="t100"/>
          <p:cNvSpPr txBox="1"/>
          <p:nvPr/>
        </p:nvSpPr>
        <p:spPr>
          <a:xfrm>
            <a:off x="489204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Adaptarse rápido cuando las reglas cambian.</a:t>
            </a:r>
            <a:endParaRPr lang="en-US" sz="1400" dirty="0"/>
          </a:p>
        </p:txBody>
      </p:sp>
      <p:sp>
        <p:nvSpPr>
          <p:cNvPr id="22" name="t101"/>
          <p:cNvSpPr txBox="1"/>
          <p:nvPr/>
        </p:nvSpPr>
        <p:spPr>
          <a:xfrm>
            <a:off x="489204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Hofstede (incertidumbre)</a:t>
            </a:r>
            <a:endParaRPr lang="en-US" sz="1000" dirty="0"/>
          </a:p>
        </p:txBody>
      </p:sp>
      <p:sp>
        <p:nvSpPr>
          <p:cNvPr id="23" name="s102"/>
          <p:cNvSpPr/>
          <p:nvPr/>
        </p:nvSpPr>
        <p:spPr>
          <a:xfrm>
            <a:off x="683514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103"/>
          <p:cNvSpPr/>
          <p:nvPr/>
        </p:nvSpPr>
        <p:spPr>
          <a:xfrm>
            <a:off x="701802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10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1586484"/>
            <a:ext cx="256032" cy="256032"/>
          </a:xfrm>
          <a:prstGeom prst="rect">
            <a:avLst/>
          </a:prstGeom>
        </p:spPr>
      </p:pic>
      <p:sp>
        <p:nvSpPr>
          <p:cNvPr id="26" name="t105"/>
          <p:cNvSpPr txBox="1"/>
          <p:nvPr/>
        </p:nvSpPr>
        <p:spPr>
          <a:xfrm>
            <a:off x="701802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 por relación</a:t>
            </a:r>
            <a:endParaRPr lang="en-US" sz="1600" dirty="0"/>
          </a:p>
        </p:txBody>
      </p:sp>
      <p:sp>
        <p:nvSpPr>
          <p:cNvPr id="27" name="t106"/>
          <p:cNvSpPr txBox="1"/>
          <p:nvPr/>
        </p:nvSpPr>
        <p:spPr>
          <a:xfrm>
            <a:off x="701802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lo implícito y se ajusta a cada persona.</a:t>
            </a:r>
            <a:endParaRPr lang="en-US" sz="1400" dirty="0"/>
          </a:p>
        </p:txBody>
      </p:sp>
      <p:sp>
        <p:nvSpPr>
          <p:cNvPr id="28" name="t107"/>
          <p:cNvSpPr txBox="1"/>
          <p:nvPr/>
        </p:nvSpPr>
        <p:spPr>
          <a:xfrm>
            <a:off x="701802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Hall; Trompenaars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A · LIDERAR AL ESTILO ARGENTINO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Paternalismo positivo: un intercambio</a:t>
            </a:r>
            <a:endParaRPr lang="en-US" sz="2800" dirty="0"/>
          </a:p>
        </p:txBody>
      </p:sp>
      <p:sp>
        <p:nvSpPr>
          <p:cNvPr id="5" name="t108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 (2005): en América Latina el paternalismo puede ser una forma positiva de liderazgo.</a:t>
            </a:r>
            <a:endParaRPr lang="en-US" sz="1400" dirty="0"/>
          </a:p>
        </p:txBody>
      </p:sp>
      <p:sp>
        <p:nvSpPr>
          <p:cNvPr id="6" name="s109"/>
          <p:cNvSpPr/>
          <p:nvPr/>
        </p:nvSpPr>
        <p:spPr>
          <a:xfrm>
            <a:off x="457200" y="160020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110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c1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906524"/>
            <a:ext cx="256032" cy="256032"/>
          </a:xfrm>
          <a:prstGeom prst="rect">
            <a:avLst/>
          </a:prstGeom>
        </p:spPr>
      </p:pic>
      <p:sp>
        <p:nvSpPr>
          <p:cNvPr id="9" name="t112"/>
          <p:cNvSpPr txBox="1"/>
          <p:nvPr/>
        </p:nvSpPr>
        <p:spPr>
          <a:xfrm>
            <a:off x="640080" y="2404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da el líder</a:t>
            </a:r>
            <a:endParaRPr lang="en-US" sz="1600" dirty="0"/>
          </a:p>
        </p:txBody>
      </p:sp>
      <p:sp>
        <p:nvSpPr>
          <p:cNvPr id="10" name="t113"/>
          <p:cNvSpPr txBox="1"/>
          <p:nvPr/>
        </p:nvSpPr>
        <p:spPr>
          <a:xfrm>
            <a:off x="640080" y="289864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interesa por la vida de su gente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al equipo frente a la organización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 en lo laboral y en lo personal</a:t>
            </a:r>
            <a:endParaRPr lang="en-US" sz="1400" dirty="0"/>
          </a:p>
        </p:txBody>
      </p:sp>
      <p:sp>
        <p:nvSpPr>
          <p:cNvPr id="11" name="s114"/>
          <p:cNvSpPr/>
          <p:nvPr/>
        </p:nvSpPr>
        <p:spPr>
          <a:xfrm>
            <a:off x="4709160" y="1600200"/>
            <a:ext cx="39776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115"/>
          <p:cNvSpPr/>
          <p:nvPr/>
        </p:nvSpPr>
        <p:spPr>
          <a:xfrm>
            <a:off x="4892040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1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1906524"/>
            <a:ext cx="256032" cy="256032"/>
          </a:xfrm>
          <a:prstGeom prst="rect">
            <a:avLst/>
          </a:prstGeom>
        </p:spPr>
      </p:pic>
      <p:sp>
        <p:nvSpPr>
          <p:cNvPr id="14" name="t117"/>
          <p:cNvSpPr txBox="1"/>
          <p:nvPr/>
        </p:nvSpPr>
        <p:spPr>
          <a:xfrm>
            <a:off x="4892040" y="2404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devuelve el equipo</a:t>
            </a:r>
            <a:endParaRPr lang="en-US" sz="1600" dirty="0"/>
          </a:p>
        </p:txBody>
      </p:sp>
      <p:sp>
        <p:nvSpPr>
          <p:cNvPr id="15" name="t118"/>
          <p:cNvSpPr txBox="1"/>
          <p:nvPr/>
        </p:nvSpPr>
        <p:spPr>
          <a:xfrm>
            <a:off x="4892040" y="289864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Lealtad y compromiso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extra cuando hace falta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Permanencia en la organización</a:t>
            </a:r>
            <a:endParaRPr lang="en-US" sz="1400" dirty="0"/>
          </a:p>
        </p:txBody>
      </p:sp>
      <p:sp>
        <p:nvSpPr>
          <p:cNvPr id="16" name="s119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c1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183380"/>
            <a:ext cx="274320" cy="274320"/>
          </a:xfrm>
          <a:prstGeom prst="rect">
            <a:avLst/>
          </a:prstGeom>
        </p:spPr>
      </p:pic>
      <p:sp>
        <p:nvSpPr>
          <p:cNvPr id="18" name="t121"/>
          <p:cNvSpPr txBox="1"/>
          <p:nvPr/>
        </p:nvSpPr>
        <p:spPr>
          <a:xfrm>
            <a:off x="1024128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culturas orientadas al grupo, el cuidado del líder es una fuente de motivación, no una intromisión.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A · LIDERAR AL ESTILO ARGENTINO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estilo argentino en acción</a:t>
            </a:r>
            <a:endParaRPr lang="en-US" sz="2800" dirty="0"/>
          </a:p>
        </p:txBody>
      </p:sp>
      <p:graphicFrame>
        <p:nvGraphicFramePr>
          <p:cNvPr id="10" name="tbl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2280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responde el líder argentino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8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funciona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o cambio de reglas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Reacomoda prioridades sobre la marcha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Entrenado en entornos RUPT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con un problema personal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Flexibiliza y acompaña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 lealtad de largo plazo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nuevo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Primero construye el vínculo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confianza para la tormenta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escasos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Improvisa y resuelve con lo que hay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Creatividad bajo restricción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123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1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29100"/>
            <a:ext cx="274320" cy="274320"/>
          </a:xfrm>
          <a:prstGeom prst="rect">
            <a:avLst/>
          </a:prstGeom>
        </p:spPr>
      </p:pic>
      <p:sp>
        <p:nvSpPr>
          <p:cNvPr id="8" name="t125"/>
          <p:cNvSpPr txBox="1"/>
          <p:nvPr/>
        </p:nvSpPr>
        <p:spPr>
          <a:xfrm>
            <a:off x="1024128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central del Equipo A: en un mundo RUPT, la adaptabilidad y el vínculo valen más que el proceso.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A · LIDERAR AL ESTILO ARGENTINO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Agregado: el estilo argentino a distancia</a:t>
            </a:r>
            <a:endParaRPr lang="en-US" sz="2800" dirty="0"/>
          </a:p>
        </p:txBody>
      </p:sp>
      <p:sp>
        <p:nvSpPr>
          <p:cNvPr id="5" name="s126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127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12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86484"/>
            <a:ext cx="256032" cy="256032"/>
          </a:xfrm>
          <a:prstGeom prst="rect">
            <a:avLst/>
          </a:prstGeom>
        </p:spPr>
      </p:pic>
      <p:sp>
        <p:nvSpPr>
          <p:cNvPr id="8" name="t129"/>
          <p:cNvSpPr txBox="1"/>
          <p:nvPr/>
        </p:nvSpPr>
        <p:spPr>
          <a:xfrm>
            <a:off x="64008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Fortaleza: conexión</a:t>
            </a:r>
            <a:endParaRPr lang="en-US" sz="1600" dirty="0"/>
          </a:p>
        </p:txBody>
      </p:sp>
      <p:sp>
        <p:nvSpPr>
          <p:cNvPr id="9" name="t130"/>
          <p:cNvSpPr txBox="1"/>
          <p:nvPr/>
        </p:nvSpPr>
        <p:spPr>
          <a:xfrm>
            <a:off x="64008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vínculo se cuida también a distancia (cámaras, charla informal) y sostiene la pertenencia.</a:t>
            </a:r>
            <a:endParaRPr lang="en-US" sz="1400" dirty="0"/>
          </a:p>
        </p:txBody>
      </p:sp>
      <p:sp>
        <p:nvSpPr>
          <p:cNvPr id="10" name="t131"/>
          <p:cNvSpPr txBox="1"/>
          <p:nvPr/>
        </p:nvSpPr>
        <p:spPr>
          <a:xfrm>
            <a:off x="64008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híbridos: dimensión Conexión</a:t>
            </a:r>
            <a:endParaRPr lang="en-US" sz="1000" dirty="0"/>
          </a:p>
        </p:txBody>
      </p:sp>
      <p:sp>
        <p:nvSpPr>
          <p:cNvPr id="11" name="s132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133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1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1586484"/>
            <a:ext cx="256032" cy="256032"/>
          </a:xfrm>
          <a:prstGeom prst="rect">
            <a:avLst/>
          </a:prstGeom>
        </p:spPr>
      </p:pic>
      <p:sp>
        <p:nvSpPr>
          <p:cNvPr id="14" name="t135"/>
          <p:cNvSpPr txBox="1"/>
          <p:nvPr/>
        </p:nvSpPr>
        <p:spPr>
          <a:xfrm>
            <a:off x="347472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Riesgo: control</a:t>
            </a:r>
            <a:endParaRPr lang="en-US" sz="1600" dirty="0"/>
          </a:p>
        </p:txBody>
      </p:sp>
      <p:sp>
        <p:nvSpPr>
          <p:cNvPr id="15" name="t136"/>
          <p:cNvSpPr txBox="1"/>
          <p:nvPr/>
        </p:nvSpPr>
        <p:spPr>
          <a:xfrm>
            <a:off x="347472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extraña «pasar por el escritorio» y se controla la conexión en vez de los resultados.</a:t>
            </a:r>
            <a:endParaRPr lang="en-US" sz="1400" dirty="0"/>
          </a:p>
        </p:txBody>
      </p:sp>
      <p:sp>
        <p:nvSpPr>
          <p:cNvPr id="16" name="t137"/>
          <p:cNvSpPr txBox="1"/>
          <p:nvPr/>
        </p:nvSpPr>
        <p:spPr>
          <a:xfrm>
            <a:off x="347472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control a la confianza</a:t>
            </a:r>
            <a:endParaRPr lang="en-US" sz="1000" dirty="0"/>
          </a:p>
        </p:txBody>
      </p:sp>
      <p:sp>
        <p:nvSpPr>
          <p:cNvPr id="17" name="s138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139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c14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586484"/>
            <a:ext cx="256032" cy="256032"/>
          </a:xfrm>
          <a:prstGeom prst="rect">
            <a:avLst/>
          </a:prstGeom>
        </p:spPr>
      </p:pic>
      <p:sp>
        <p:nvSpPr>
          <p:cNvPr id="20" name="t141"/>
          <p:cNvSpPr txBox="1"/>
          <p:nvPr/>
        </p:nvSpPr>
        <p:spPr>
          <a:xfrm>
            <a:off x="630936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legal</a:t>
            </a:r>
            <a:endParaRPr lang="en-US" sz="1600" dirty="0"/>
          </a:p>
        </p:txBody>
      </p:sp>
      <p:sp>
        <p:nvSpPr>
          <p:cNvPr id="21" name="t142"/>
          <p:cNvSpPr txBox="1"/>
          <p:nvPr/>
        </p:nvSpPr>
        <p:spPr>
          <a:xfrm>
            <a:off x="630936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de Teletrabajo da derecho a la desconexión y a volver a la presencialidad.</a:t>
            </a:r>
            <a:endParaRPr lang="en-US" sz="1400" dirty="0"/>
          </a:p>
        </p:txBody>
      </p:sp>
      <p:sp>
        <p:nvSpPr>
          <p:cNvPr id="22" name="t143"/>
          <p:cNvSpPr txBox="1"/>
          <p:nvPr/>
        </p:nvSpPr>
        <p:spPr>
          <a:xfrm>
            <a:off x="630936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27.555 (2020)</a:t>
            </a:r>
            <a:endParaRPr lang="en-US" sz="1000" dirty="0"/>
          </a:p>
        </p:txBody>
      </p:sp>
      <p:sp>
        <p:nvSpPr>
          <p:cNvPr id="23" name="s144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c14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183380"/>
            <a:ext cx="274320" cy="274320"/>
          </a:xfrm>
          <a:prstGeom prst="rect">
            <a:avLst/>
          </a:prstGeom>
        </p:spPr>
      </p:pic>
      <p:sp>
        <p:nvSpPr>
          <p:cNvPr id="25" name="t146"/>
          <p:cNvSpPr txBox="1"/>
          <p:nvPr/>
        </p:nvSpPr>
        <p:spPr>
          <a:xfrm>
            <a:off x="1024128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del Equipo A: a distancia, el vínculo es lo que evita que el equipo se fragmente.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3"/>
                </a:solidFill>
              </a:rPr>
              <a:t>EQUIPO B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Liderar al estilo estadounidense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154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0"/>
                </a:solidFill>
              </a:rPr>
              <a:t>Objetivos claros, autonomía y feedback directo</a:t>
            </a:r>
            <a:endParaRPr lang="en-US" sz="1600" dirty="0"/>
          </a:p>
        </p:txBody>
      </p:sp>
      <p:sp>
        <p:nvSpPr>
          <p:cNvPr id="5" name="s147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1E33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c14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65960"/>
            <a:ext cx="1005840" cy="1005840"/>
          </a:xfrm>
          <a:prstGeom prst="rect">
            <a:avLst/>
          </a:prstGeom>
        </p:spPr>
      </p:pic>
      <p:sp>
        <p:nvSpPr>
          <p:cNvPr id="7" name="t149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Equipo B · Facundo Barrionuevo y Camila </a:t>
            </a:r>
            <a:r>
              <a:rPr lang="en-US" sz="1400" b="1" dirty="0" err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Pirchio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A3B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B · LIDERAR AL ESTILO ESTADOUNIDENSE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cuatro pilares del estilo estadounidense</a:t>
            </a:r>
            <a:endParaRPr lang="en-US" sz="2800" dirty="0"/>
          </a:p>
        </p:txBody>
      </p:sp>
      <p:sp>
        <p:nvSpPr>
          <p:cNvPr id="5" name="s150"/>
          <p:cNvSpPr/>
          <p:nvPr/>
        </p:nvSpPr>
        <p:spPr>
          <a:xfrm>
            <a:off x="45720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15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15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86484"/>
            <a:ext cx="256032" cy="256032"/>
          </a:xfrm>
          <a:prstGeom prst="rect">
            <a:avLst/>
          </a:prstGeom>
        </p:spPr>
      </p:pic>
      <p:sp>
        <p:nvSpPr>
          <p:cNvPr id="8" name="t153"/>
          <p:cNvSpPr txBox="1"/>
          <p:nvPr/>
        </p:nvSpPr>
        <p:spPr>
          <a:xfrm>
            <a:off x="64008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por objetivos</a:t>
            </a:r>
            <a:endParaRPr lang="en-US" sz="1600" dirty="0"/>
          </a:p>
        </p:txBody>
      </p:sp>
      <p:sp>
        <p:nvSpPr>
          <p:cNvPr id="9" name="t154"/>
          <p:cNvSpPr txBox="1"/>
          <p:nvPr/>
        </p:nvSpPr>
        <p:spPr>
          <a:xfrm>
            <a:off x="64008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saben qué se espera y cómo se mide.</a:t>
            </a:r>
            <a:endParaRPr lang="en-US" sz="1400" dirty="0"/>
          </a:p>
        </p:txBody>
      </p:sp>
      <p:sp>
        <p:nvSpPr>
          <p:cNvPr id="10" name="t155"/>
          <p:cNvSpPr txBox="1"/>
          <p:nvPr/>
        </p:nvSpPr>
        <p:spPr>
          <a:xfrm>
            <a:off x="64008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 (1954)</a:t>
            </a:r>
            <a:endParaRPr lang="en-US" sz="1000" dirty="0"/>
          </a:p>
        </p:txBody>
      </p:sp>
      <p:sp>
        <p:nvSpPr>
          <p:cNvPr id="11" name="s156"/>
          <p:cNvSpPr/>
          <p:nvPr/>
        </p:nvSpPr>
        <p:spPr>
          <a:xfrm>
            <a:off x="258318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157"/>
          <p:cNvSpPr/>
          <p:nvPr/>
        </p:nvSpPr>
        <p:spPr>
          <a:xfrm>
            <a:off x="276606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15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1586484"/>
            <a:ext cx="256032" cy="256032"/>
          </a:xfrm>
          <a:prstGeom prst="rect">
            <a:avLst/>
          </a:prstGeom>
        </p:spPr>
      </p:pic>
      <p:sp>
        <p:nvSpPr>
          <p:cNvPr id="14" name="t159"/>
          <p:cNvSpPr txBox="1"/>
          <p:nvPr/>
        </p:nvSpPr>
        <p:spPr>
          <a:xfrm>
            <a:off x="276606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Autonomía y delegación</a:t>
            </a:r>
            <a:endParaRPr lang="en-US" sz="1600" dirty="0"/>
          </a:p>
        </p:txBody>
      </p:sp>
      <p:sp>
        <p:nvSpPr>
          <p:cNvPr id="15" name="t160"/>
          <p:cNvSpPr txBox="1"/>
          <p:nvPr/>
        </p:nvSpPr>
        <p:spPr>
          <a:xfrm>
            <a:off x="276606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colaborador es dueño de su trabajo.</a:t>
            </a:r>
            <a:endParaRPr lang="en-US" sz="1400" dirty="0"/>
          </a:p>
        </p:txBody>
      </p:sp>
      <p:sp>
        <p:nvSpPr>
          <p:cNvPr id="16" name="t161"/>
          <p:cNvSpPr txBox="1"/>
          <p:nvPr/>
        </p:nvSpPr>
        <p:spPr>
          <a:xfrm>
            <a:off x="276606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Hersey y Blanchard; GLOBE</a:t>
            </a:r>
            <a:endParaRPr lang="en-US" sz="1000" dirty="0"/>
          </a:p>
        </p:txBody>
      </p:sp>
      <p:sp>
        <p:nvSpPr>
          <p:cNvPr id="17" name="s162"/>
          <p:cNvSpPr/>
          <p:nvPr/>
        </p:nvSpPr>
        <p:spPr>
          <a:xfrm>
            <a:off x="470916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163"/>
          <p:cNvSpPr/>
          <p:nvPr/>
        </p:nvSpPr>
        <p:spPr>
          <a:xfrm>
            <a:off x="48920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c16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484" y="1586484"/>
            <a:ext cx="256032" cy="256032"/>
          </a:xfrm>
          <a:prstGeom prst="rect">
            <a:avLst/>
          </a:prstGeom>
        </p:spPr>
      </p:pic>
      <p:sp>
        <p:nvSpPr>
          <p:cNvPr id="20" name="t165"/>
          <p:cNvSpPr txBox="1"/>
          <p:nvPr/>
        </p:nvSpPr>
        <p:spPr>
          <a:xfrm>
            <a:off x="489204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directo</a:t>
            </a:r>
            <a:endParaRPr lang="en-US" sz="1600" dirty="0"/>
          </a:p>
        </p:txBody>
      </p:sp>
      <p:sp>
        <p:nvSpPr>
          <p:cNvPr id="21" name="t166"/>
          <p:cNvSpPr txBox="1"/>
          <p:nvPr/>
        </p:nvSpPr>
        <p:spPr>
          <a:xfrm>
            <a:off x="489204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lo que hay que decir, con cuidado personal.</a:t>
            </a:r>
            <a:endParaRPr lang="en-US" sz="1400" dirty="0"/>
          </a:p>
        </p:txBody>
      </p:sp>
      <p:sp>
        <p:nvSpPr>
          <p:cNvPr id="22" name="t167"/>
          <p:cNvSpPr txBox="1"/>
          <p:nvPr/>
        </p:nvSpPr>
        <p:spPr>
          <a:xfrm>
            <a:off x="489204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(2017); Hall</a:t>
            </a:r>
            <a:endParaRPr lang="en-US" sz="1000" dirty="0"/>
          </a:p>
        </p:txBody>
      </p:sp>
      <p:sp>
        <p:nvSpPr>
          <p:cNvPr id="23" name="s168"/>
          <p:cNvSpPr/>
          <p:nvPr/>
        </p:nvSpPr>
        <p:spPr>
          <a:xfrm>
            <a:off x="6835140" y="1280160"/>
            <a:ext cx="1851660" cy="3246120"/>
          </a:xfrm>
          <a:prstGeom prst="roundRect">
            <a:avLst>
              <a:gd name="adj" fmla="val 395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169"/>
          <p:cNvSpPr/>
          <p:nvPr/>
        </p:nvSpPr>
        <p:spPr>
          <a:xfrm>
            <a:off x="701802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17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1586484"/>
            <a:ext cx="256032" cy="256032"/>
          </a:xfrm>
          <a:prstGeom prst="rect">
            <a:avLst/>
          </a:prstGeom>
        </p:spPr>
      </p:pic>
      <p:sp>
        <p:nvSpPr>
          <p:cNvPr id="26" name="t171"/>
          <p:cNvSpPr txBox="1"/>
          <p:nvPr/>
        </p:nvSpPr>
        <p:spPr>
          <a:xfrm>
            <a:off x="7018020" y="2084832"/>
            <a:ext cx="1485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para todos</a:t>
            </a:r>
            <a:endParaRPr lang="en-US" sz="1600" dirty="0"/>
          </a:p>
        </p:txBody>
      </p:sp>
      <p:sp>
        <p:nvSpPr>
          <p:cNvPr id="27" name="t172"/>
          <p:cNvSpPr txBox="1"/>
          <p:nvPr/>
        </p:nvSpPr>
        <p:spPr>
          <a:xfrm>
            <a:off x="7018020" y="2670048"/>
            <a:ext cx="14859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criterios para todos, sin favoritismos.</a:t>
            </a:r>
            <a:endParaRPr lang="en-US" sz="1400" dirty="0"/>
          </a:p>
        </p:txBody>
      </p:sp>
      <p:sp>
        <p:nvSpPr>
          <p:cNvPr id="28" name="t173"/>
          <p:cNvSpPr txBox="1"/>
          <p:nvPr/>
        </p:nvSpPr>
        <p:spPr>
          <a:xfrm>
            <a:off x="7018020" y="414223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Trompenaars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B · LIDERAR AL ESTILO ESTADOUNIDENSE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herramientas del estilo estadounidense</a:t>
            </a:r>
            <a:endParaRPr lang="en-US" sz="2800" dirty="0"/>
          </a:p>
        </p:txBody>
      </p:sp>
      <p:graphicFrame>
        <p:nvGraphicFramePr>
          <p:cNvPr id="14" name="tbl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667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resuelve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por objetivos / OKRs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Drucker (1954)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Alinear al equipo y medir avances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Liderazgo situacional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Hersey y Blanchard (1969)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Adaptar el estilo a cada persona y tarea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Candor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 Scott (2017)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feedback directo sin dañar el vínculo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Disagree and commit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Principios de Amazon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rápido y ejecutar sin volver atrás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nivel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 Collins (2001)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Humildad personal con foco en resultados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17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17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29100"/>
            <a:ext cx="274320" cy="274320"/>
          </a:xfrm>
          <a:prstGeom prst="rect">
            <a:avLst/>
          </a:prstGeom>
        </p:spPr>
      </p:pic>
      <p:sp>
        <p:nvSpPr>
          <p:cNvPr id="8" name="t177"/>
          <p:cNvSpPr txBox="1"/>
          <p:nvPr/>
        </p:nvSpPr>
        <p:spPr>
          <a:xfrm>
            <a:off x="1024128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 la teoría que estudiamos en la diplomatura nació en este estilo.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B · LIDERAR AL ESTILO ESTADOUNIDENSE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estilo estadounidense en acción</a:t>
            </a:r>
            <a:endParaRPr lang="en-US" sz="2800" dirty="0"/>
          </a:p>
        </p:txBody>
      </p:sp>
      <p:graphicFrame>
        <p:nvGraphicFramePr>
          <p:cNvPr id="15" name="tbl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2280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responde el líder estadounidense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funciona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desempeño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claro, plan y seguimiento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persona sabe dónde está parada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que crece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y roles escritos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sin depender del jefe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Desacuerdo en una decisión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debate y se compromete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reabre lo decidido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Criterios explícitos y medibles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favoritismos y sesgos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179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1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29100"/>
            <a:ext cx="274320" cy="274320"/>
          </a:xfrm>
          <a:prstGeom prst="rect">
            <a:avLst/>
          </a:prstGeom>
        </p:spPr>
      </p:pic>
      <p:sp>
        <p:nvSpPr>
          <p:cNvPr id="8" name="t181"/>
          <p:cNvSpPr txBox="1"/>
          <p:nvPr/>
        </p:nvSpPr>
        <p:spPr>
          <a:xfrm>
            <a:off x="1024128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central del Equipo B: la claridad es una forma de respeto, y lo que se escribe se puede mejorar.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EQUIPO B · LIDERAR AL ESTILO ESTADOUNIDENSE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Agregado: el estilo estadounidense a distancia</a:t>
            </a:r>
            <a:endParaRPr lang="en-US" sz="2800" dirty="0"/>
          </a:p>
        </p:txBody>
      </p:sp>
      <p:sp>
        <p:nvSpPr>
          <p:cNvPr id="5" name="s182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18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18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86484"/>
            <a:ext cx="256032" cy="256032"/>
          </a:xfrm>
          <a:prstGeom prst="rect">
            <a:avLst/>
          </a:prstGeom>
        </p:spPr>
      </p:pic>
      <p:sp>
        <p:nvSpPr>
          <p:cNvPr id="8" name="t185"/>
          <p:cNvSpPr txBox="1"/>
          <p:nvPr/>
        </p:nvSpPr>
        <p:spPr>
          <a:xfrm>
            <a:off x="64008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Fortaleza: claridad</a:t>
            </a:r>
            <a:endParaRPr lang="en-US" sz="1600" dirty="0"/>
          </a:p>
        </p:txBody>
      </p:sp>
      <p:sp>
        <p:nvSpPr>
          <p:cNvPr id="9" name="t186"/>
          <p:cNvSpPr txBox="1"/>
          <p:nvPr/>
        </p:nvSpPr>
        <p:spPr>
          <a:xfrm>
            <a:off x="64008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escritos y decisiones registradas: el trabajo asincrónico funciona.</a:t>
            </a:r>
            <a:endParaRPr lang="en-US" sz="1400" dirty="0"/>
          </a:p>
        </p:txBody>
      </p:sp>
      <p:sp>
        <p:nvSpPr>
          <p:cNvPr id="10" name="t187"/>
          <p:cNvSpPr txBox="1"/>
          <p:nvPr/>
        </p:nvSpPr>
        <p:spPr>
          <a:xfrm>
            <a:off x="64008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Claridad y Cumplimiento</a:t>
            </a:r>
            <a:endParaRPr lang="en-US" sz="1000" dirty="0"/>
          </a:p>
        </p:txBody>
      </p:sp>
      <p:sp>
        <p:nvSpPr>
          <p:cNvPr id="11" name="s188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189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19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64" y="1586484"/>
            <a:ext cx="256032" cy="256032"/>
          </a:xfrm>
          <a:prstGeom prst="rect">
            <a:avLst/>
          </a:prstGeom>
        </p:spPr>
      </p:pic>
      <p:sp>
        <p:nvSpPr>
          <p:cNvPr id="14" name="t191"/>
          <p:cNvSpPr txBox="1"/>
          <p:nvPr/>
        </p:nvSpPr>
        <p:spPr>
          <a:xfrm>
            <a:off x="347472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Riesgo: pertenencia</a:t>
            </a:r>
            <a:endParaRPr lang="en-US" sz="1600" dirty="0"/>
          </a:p>
        </p:txBody>
      </p:sp>
      <p:sp>
        <p:nvSpPr>
          <p:cNvPr id="15" name="t192"/>
          <p:cNvSpPr txBox="1"/>
          <p:nvPr/>
        </p:nvSpPr>
        <p:spPr>
          <a:xfrm>
            <a:off x="347472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vínculo acotado a la tarea, a distancia cuesta pedir ayuda y se pierde cohesión.</a:t>
            </a:r>
            <a:endParaRPr lang="en-US" sz="1400" dirty="0"/>
          </a:p>
        </p:txBody>
      </p:sp>
      <p:sp>
        <p:nvSpPr>
          <p:cNvPr id="16" name="t193"/>
          <p:cNvSpPr txBox="1"/>
          <p:nvPr/>
        </p:nvSpPr>
        <p:spPr>
          <a:xfrm>
            <a:off x="347472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psicológica (Edmondson)</a:t>
            </a:r>
            <a:endParaRPr lang="en-US" sz="1000" dirty="0"/>
          </a:p>
        </p:txBody>
      </p:sp>
      <p:sp>
        <p:nvSpPr>
          <p:cNvPr id="17" name="s194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195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c19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586484"/>
            <a:ext cx="256032" cy="256032"/>
          </a:xfrm>
          <a:prstGeom prst="rect">
            <a:avLst/>
          </a:prstGeom>
        </p:spPr>
      </p:pic>
      <p:sp>
        <p:nvSpPr>
          <p:cNvPr id="20" name="t197"/>
          <p:cNvSpPr txBox="1"/>
          <p:nvPr/>
        </p:nvSpPr>
        <p:spPr>
          <a:xfrm>
            <a:off x="6309360" y="2084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actual</a:t>
            </a:r>
            <a:endParaRPr lang="en-US" sz="1600" dirty="0"/>
          </a:p>
        </p:txBody>
      </p:sp>
      <p:sp>
        <p:nvSpPr>
          <p:cNvPr id="21" name="t198"/>
          <p:cNvSpPr txBox="1"/>
          <p:nvPr/>
        </p:nvSpPr>
        <p:spPr>
          <a:xfrm>
            <a:off x="630936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derecho federal a la desconexión; Amazon volvió a 5 días de oficina en 2025.</a:t>
            </a:r>
            <a:endParaRPr lang="en-US" sz="1400" dirty="0"/>
          </a:p>
        </p:txBody>
      </p:sp>
      <p:sp>
        <p:nvSpPr>
          <p:cNvPr id="22" name="t199"/>
          <p:cNvSpPr txBox="1"/>
          <p:nvPr/>
        </p:nvSpPr>
        <p:spPr>
          <a:xfrm>
            <a:off x="6309360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(2024)</a:t>
            </a:r>
            <a:endParaRPr lang="en-US" sz="1000" dirty="0"/>
          </a:p>
        </p:txBody>
      </p:sp>
      <p:sp>
        <p:nvSpPr>
          <p:cNvPr id="23" name="s200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c20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183380"/>
            <a:ext cx="274320" cy="274320"/>
          </a:xfrm>
          <a:prstGeom prst="rect">
            <a:avLst/>
          </a:prstGeom>
        </p:spPr>
      </p:pic>
      <p:sp>
        <p:nvSpPr>
          <p:cNvPr id="25" name="t202"/>
          <p:cNvSpPr txBox="1"/>
          <p:nvPr/>
        </p:nvSpPr>
        <p:spPr>
          <a:xfrm>
            <a:off x="1024128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del Equipo B: a distancia, lo que está escrito es lo que coordina.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RÉPLICA Y CIERRE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Réplica: el lado oscuro de cada estilo</a:t>
            </a:r>
            <a:endParaRPr lang="en-US" sz="2800" dirty="0"/>
          </a:p>
        </p:txBody>
      </p:sp>
      <p:sp>
        <p:nvSpPr>
          <p:cNvPr id="5" name="s203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DDE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204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205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8" name="t206"/>
          <p:cNvSpPr txBox="1"/>
          <p:nvPr/>
        </p:nvSpPr>
        <p:spPr>
          <a:xfrm>
            <a:off x="1143000" y="1399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Críticas al estilo argentino</a:t>
            </a:r>
            <a:endParaRPr lang="en-US" sz="1700" dirty="0"/>
          </a:p>
        </p:txBody>
      </p:sp>
      <p:sp>
        <p:nvSpPr>
          <p:cNvPr id="9" name="t207"/>
          <p:cNvSpPr txBox="1"/>
          <p:nvPr/>
        </p:nvSpPr>
        <p:spPr>
          <a:xfrm>
            <a:off x="640080" y="19202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Anomia: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reglas se negocian (Nino, 1992)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personalista: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«¿y a mí qué me importa?» (O'Donnell, 1984)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Paternalismo que centraliza: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equipo no crece (Petit et al., 2008)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crisis permanente: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nunca se planifica</a:t>
            </a:r>
            <a:endParaRPr lang="en-US" sz="1300" dirty="0"/>
          </a:p>
        </p:txBody>
      </p:sp>
      <p:sp>
        <p:nvSpPr>
          <p:cNvPr id="10" name="s208"/>
          <p:cNvSpPr/>
          <p:nvPr/>
        </p:nvSpPr>
        <p:spPr>
          <a:xfrm>
            <a:off x="466344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7E1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209"/>
          <p:cNvSpPr/>
          <p:nvPr/>
        </p:nvSpPr>
        <p:spPr>
          <a:xfrm>
            <a:off x="4846320" y="13990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210"/>
          <p:cNvSpPr txBox="1"/>
          <p:nvPr/>
        </p:nvSpPr>
        <p:spPr>
          <a:xfrm>
            <a:off x="484632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300" dirty="0"/>
          </a:p>
        </p:txBody>
      </p:sp>
      <p:sp>
        <p:nvSpPr>
          <p:cNvPr id="13" name="t211"/>
          <p:cNvSpPr txBox="1"/>
          <p:nvPr/>
        </p:nvSpPr>
        <p:spPr>
          <a:xfrm>
            <a:off x="5349240" y="1399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Críticas al estilo estadounidense</a:t>
            </a:r>
            <a:endParaRPr lang="en-US" sz="1700" dirty="0"/>
          </a:p>
        </p:txBody>
      </p:sp>
      <p:sp>
        <p:nvSpPr>
          <p:cNvPr id="14" name="t212"/>
          <p:cNvSpPr txBox="1"/>
          <p:nvPr/>
        </p:nvSpPr>
        <p:spPr>
          <a:xfrm>
            <a:off x="4846320" y="192024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Cortoplacismo: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todo se mide por el trimestre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frágil: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empleo a voluntad rompe la lealtad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Positividad forzada: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problemas se maquillan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proceso falla cuando cambia la realidad</a:t>
            </a:r>
            <a:endParaRPr lang="en-US" sz="1300" dirty="0"/>
          </a:p>
        </p:txBody>
      </p:sp>
      <p:sp>
        <p:nvSpPr>
          <p:cNvPr id="15" name="s213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c2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29100"/>
            <a:ext cx="274320" cy="274320"/>
          </a:xfrm>
          <a:prstGeom prst="rect">
            <a:avLst/>
          </a:prstGeom>
        </p:spPr>
      </p:pic>
      <p:sp>
        <p:nvSpPr>
          <p:cNvPr id="17" name="t215"/>
          <p:cNvSpPr txBox="1"/>
          <p:nvPr/>
        </p:nvSpPr>
        <p:spPr>
          <a:xfrm>
            <a:off x="1024128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tiene 1 minuto para </a:t>
            </a:r>
            <a:r>
              <a:rPr lang="en-US" sz="1400" i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criticar</a:t>
            </a: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1 minuto para “</a:t>
            </a:r>
            <a:r>
              <a:rPr lang="en-US" sz="1400" i="1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defenderse</a:t>
            </a: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RÉPLICA Y CIERRE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común: cancelar un proyecto</a:t>
            </a:r>
            <a:endParaRPr lang="en-US" sz="2800" dirty="0"/>
          </a:p>
        </p:txBody>
      </p:sp>
      <p:sp>
        <p:nvSpPr>
          <p:cNvPr id="5" name="s216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c2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99032"/>
            <a:ext cx="365760" cy="365760"/>
          </a:xfrm>
          <a:prstGeom prst="rect">
            <a:avLst/>
          </a:prstGeom>
        </p:spPr>
      </p:pic>
      <p:sp>
        <p:nvSpPr>
          <p:cNvPr id="7" name="t218"/>
          <p:cNvSpPr txBox="1"/>
          <p:nvPr/>
        </p:nvSpPr>
        <p:spPr>
          <a:xfrm>
            <a:off x="1188720" y="1234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cancela un proyecto en el que un equipo trabajó 6 meses. ¿Cómo lo comunica cada estilo?</a:t>
            </a:r>
            <a:endParaRPr lang="en-US" sz="1600" dirty="0"/>
          </a:p>
        </p:txBody>
      </p:sp>
      <p:sp>
        <p:nvSpPr>
          <p:cNvPr id="8" name="t219"/>
          <p:cNvSpPr txBox="1"/>
          <p:nvPr/>
        </p:nvSpPr>
        <p:spPr>
          <a:xfrm>
            <a:off x="7223760" y="1234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400" dirty="0"/>
          </a:p>
        </p:txBody>
      </p:sp>
      <p:sp>
        <p:nvSpPr>
          <p:cNvPr id="9" name="s220"/>
          <p:cNvSpPr/>
          <p:nvPr/>
        </p:nvSpPr>
        <p:spPr>
          <a:xfrm>
            <a:off x="457200" y="210312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221"/>
          <p:cNvSpPr txBox="1"/>
          <p:nvPr/>
        </p:nvSpPr>
        <p:spPr>
          <a:xfrm>
            <a:off x="594360" y="210312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222"/>
          <p:cNvSpPr txBox="1"/>
          <p:nvPr/>
        </p:nvSpPr>
        <p:spPr>
          <a:xfrm>
            <a:off x="960120" y="210312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A: ¿cómo lo comunica un líder al estilo argentino?</a:t>
            </a:r>
            <a:endParaRPr lang="en-US" sz="1400" dirty="0"/>
          </a:p>
        </p:txBody>
      </p:sp>
      <p:sp>
        <p:nvSpPr>
          <p:cNvPr id="12" name="s223"/>
          <p:cNvSpPr/>
          <p:nvPr/>
        </p:nvSpPr>
        <p:spPr>
          <a:xfrm>
            <a:off x="4709160" y="210312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224"/>
          <p:cNvSpPr txBox="1"/>
          <p:nvPr/>
        </p:nvSpPr>
        <p:spPr>
          <a:xfrm>
            <a:off x="4846320" y="210312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225"/>
          <p:cNvSpPr txBox="1"/>
          <p:nvPr/>
        </p:nvSpPr>
        <p:spPr>
          <a:xfrm>
            <a:off x="5212080" y="210312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B: ¿cómo lo comunica un líder al estilo estadounidense?</a:t>
            </a:r>
            <a:endParaRPr lang="en-US" sz="1400" dirty="0"/>
          </a:p>
        </p:txBody>
      </p:sp>
      <p:sp>
        <p:nvSpPr>
          <p:cNvPr id="15" name="s226"/>
          <p:cNvSpPr/>
          <p:nvPr/>
        </p:nvSpPr>
        <p:spPr>
          <a:xfrm>
            <a:off x="457200" y="340614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227"/>
          <p:cNvSpPr txBox="1"/>
          <p:nvPr/>
        </p:nvSpPr>
        <p:spPr>
          <a:xfrm>
            <a:off x="594360" y="340614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228"/>
          <p:cNvSpPr txBox="1"/>
          <p:nvPr/>
        </p:nvSpPr>
        <p:spPr>
          <a:xfrm>
            <a:off x="960120" y="340614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 tiene cada respuesta para el clima del equipo?</a:t>
            </a:r>
            <a:endParaRPr lang="en-US" sz="1400" dirty="0"/>
          </a:p>
        </p:txBody>
      </p:sp>
      <p:sp>
        <p:nvSpPr>
          <p:cNvPr id="18" name="s229"/>
          <p:cNvSpPr/>
          <p:nvPr/>
        </p:nvSpPr>
        <p:spPr>
          <a:xfrm>
            <a:off x="4709160" y="340614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230"/>
          <p:cNvSpPr txBox="1"/>
          <p:nvPr/>
        </p:nvSpPr>
        <p:spPr>
          <a:xfrm>
            <a:off x="4846320" y="340614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231"/>
          <p:cNvSpPr txBox="1"/>
          <p:nvPr/>
        </p:nvSpPr>
        <p:spPr>
          <a:xfrm>
            <a:off x="5212080" y="340614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tomaría cada equipo del otro estilo?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RÉPLICA Y CIERRE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Votación: ¿qué estilo gana?</a:t>
            </a:r>
            <a:endParaRPr lang="en-US" sz="2800" dirty="0"/>
          </a:p>
        </p:txBody>
      </p:sp>
      <p:sp>
        <p:nvSpPr>
          <p:cNvPr id="5" name="s232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c23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99032"/>
            <a:ext cx="365760" cy="365760"/>
          </a:xfrm>
          <a:prstGeom prst="rect">
            <a:avLst/>
          </a:prstGeom>
        </p:spPr>
      </p:pic>
      <p:sp>
        <p:nvSpPr>
          <p:cNvPr id="7" name="t234"/>
          <p:cNvSpPr txBox="1"/>
          <p:nvPr/>
        </p:nvSpPr>
        <p:spPr>
          <a:xfrm>
            <a:off x="1188720" y="1234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Voten a mano alzada o por chat. Pueden votar distinto en cada pregunta.</a:t>
            </a:r>
            <a:endParaRPr lang="en-US" sz="1600" dirty="0"/>
          </a:p>
        </p:txBody>
      </p:sp>
      <p:sp>
        <p:nvSpPr>
          <p:cNvPr id="8" name="t235"/>
          <p:cNvSpPr txBox="1"/>
          <p:nvPr/>
        </p:nvSpPr>
        <p:spPr>
          <a:xfrm>
            <a:off x="7223760" y="1234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9" name="s236"/>
          <p:cNvSpPr/>
          <p:nvPr/>
        </p:nvSpPr>
        <p:spPr>
          <a:xfrm>
            <a:off x="457200" y="210312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237"/>
          <p:cNvSpPr txBox="1"/>
          <p:nvPr/>
        </p:nvSpPr>
        <p:spPr>
          <a:xfrm>
            <a:off x="594360" y="210312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238"/>
          <p:cNvSpPr txBox="1"/>
          <p:nvPr/>
        </p:nvSpPr>
        <p:spPr>
          <a:xfrm>
            <a:off x="960120" y="210312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jefe te gustaría trabajar?</a:t>
            </a:r>
            <a:endParaRPr lang="en-US" sz="1400" dirty="0"/>
          </a:p>
        </p:txBody>
      </p:sp>
      <p:sp>
        <p:nvSpPr>
          <p:cNvPr id="12" name="s239"/>
          <p:cNvSpPr/>
          <p:nvPr/>
        </p:nvSpPr>
        <p:spPr>
          <a:xfrm>
            <a:off x="4709160" y="210312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240"/>
          <p:cNvSpPr txBox="1"/>
          <p:nvPr/>
        </p:nvSpPr>
        <p:spPr>
          <a:xfrm>
            <a:off x="4846320" y="210312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241"/>
          <p:cNvSpPr txBox="1"/>
          <p:nvPr/>
        </p:nvSpPr>
        <p:spPr>
          <a:xfrm>
            <a:off x="5212080" y="210312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estilo funciona mejor en una crisis?</a:t>
            </a:r>
            <a:endParaRPr lang="en-US" sz="1400" dirty="0"/>
          </a:p>
        </p:txBody>
      </p:sp>
      <p:sp>
        <p:nvSpPr>
          <p:cNvPr id="15" name="s242"/>
          <p:cNvSpPr/>
          <p:nvPr/>
        </p:nvSpPr>
        <p:spPr>
          <a:xfrm>
            <a:off x="457200" y="340614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243"/>
          <p:cNvSpPr txBox="1"/>
          <p:nvPr/>
        </p:nvSpPr>
        <p:spPr>
          <a:xfrm>
            <a:off x="594360" y="340614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244"/>
          <p:cNvSpPr txBox="1"/>
          <p:nvPr/>
        </p:nvSpPr>
        <p:spPr>
          <a:xfrm>
            <a:off x="960120" y="340614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estilo funciona mejor para hacer crecer a las personas?</a:t>
            </a:r>
            <a:endParaRPr lang="en-US" sz="1400" dirty="0"/>
          </a:p>
        </p:txBody>
      </p:sp>
      <p:sp>
        <p:nvSpPr>
          <p:cNvPr id="18" name="s245"/>
          <p:cNvSpPr/>
          <p:nvPr/>
        </p:nvSpPr>
        <p:spPr>
          <a:xfrm>
            <a:off x="4709160" y="3406140"/>
            <a:ext cx="3977640" cy="1120140"/>
          </a:xfrm>
          <a:prstGeom prst="roundRect">
            <a:avLst>
              <a:gd name="adj" fmla="val 65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246"/>
          <p:cNvSpPr txBox="1"/>
          <p:nvPr/>
        </p:nvSpPr>
        <p:spPr>
          <a:xfrm>
            <a:off x="4846320" y="3406140"/>
            <a:ext cx="3200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247"/>
          <p:cNvSpPr txBox="1"/>
          <p:nvPr/>
        </p:nvSpPr>
        <p:spPr>
          <a:xfrm>
            <a:off x="5212080" y="3406140"/>
            <a:ext cx="33375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estilo funciona mejor en un equipo diverso?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RÉPLICA Y CIERRE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Conclusión: no gana un estilo, gana el repertorio</a:t>
            </a:r>
            <a:endParaRPr lang="en-US" sz="2800" dirty="0"/>
          </a:p>
        </p:txBody>
      </p:sp>
      <p:sp>
        <p:nvSpPr>
          <p:cNvPr id="5" name="s248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249"/>
          <p:cNvSpPr txBox="1"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250"/>
          <p:cNvSpPr txBox="1"/>
          <p:nvPr/>
        </p:nvSpPr>
        <p:spPr>
          <a:xfrm>
            <a:off x="1188720" y="124358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estilo responde a su contexto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Hofstede, GLOBE y Hall explican por qué cada cultura lidera como lidera.</a:t>
            </a:r>
            <a:endParaRPr lang="en-US" sz="1600" dirty="0"/>
          </a:p>
        </p:txBody>
      </p:sp>
      <p:sp>
        <p:nvSpPr>
          <p:cNvPr id="8" name="s251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252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253"/>
          <p:cNvSpPr txBox="1"/>
          <p:nvPr/>
        </p:nvSpPr>
        <p:spPr>
          <a:xfrm>
            <a:off x="1188720" y="202082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estilo tiene su lado oscuro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Anomia y centralización de un lado; cortoplacismo y vínculo frágil del otro.</a:t>
            </a:r>
            <a:endParaRPr lang="en-US" sz="1600" dirty="0"/>
          </a:p>
        </p:txBody>
      </p:sp>
      <p:sp>
        <p:nvSpPr>
          <p:cNvPr id="11" name="s254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255"/>
          <p:cNvSpPr txBox="1"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256"/>
          <p:cNvSpPr txBox="1"/>
          <p:nvPr/>
        </p:nvSpPr>
        <p:spPr>
          <a:xfrm>
            <a:off x="1188720" y="279806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líder elige según la situación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y adaptabilidad argentinos, más claridad y método estadounidenses.</a:t>
            </a:r>
            <a:endParaRPr lang="en-US" sz="1600" dirty="0"/>
          </a:p>
        </p:txBody>
      </p:sp>
      <p:sp>
        <p:nvSpPr>
          <p:cNvPr id="14" name="s257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BF1D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c25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83380"/>
            <a:ext cx="274320" cy="274320"/>
          </a:xfrm>
          <a:prstGeom prst="rect">
            <a:avLst/>
          </a:prstGeom>
        </p:spPr>
      </p:pic>
      <p:sp>
        <p:nvSpPr>
          <p:cNvPr id="16" name="t259"/>
          <p:cNvSpPr txBox="1"/>
          <p:nvPr/>
        </p:nvSpPr>
        <p:spPr>
          <a:xfrm>
            <a:off x="1024128" y="4069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situacional: el líder no tiene un estilo, tiene un repertorio que adapta. ¡Gracias!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4"/>
                </a:solidFill>
              </a:rPr>
              <a:t>RÉPLICA Y CIERRE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utilizadas</a:t>
            </a:r>
            <a:endParaRPr lang="en-US" sz="2800" dirty="0"/>
          </a:p>
        </p:txBody>
      </p:sp>
      <p:sp>
        <p:nvSpPr>
          <p:cNvPr id="5" name="t260"/>
          <p:cNvSpPr txBox="1"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(2024). Strengthening our culture and teams (mensaje de A. Jassy sobre el regreso a la oficina 5 días).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 Leadership Principles: «Have Backbone; Disagree and Commit».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Collins, J. (2001). Good to Great. HarperBusiness.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Drucker, P. (1954). The Practice of Management. Harper &amp; Row.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Edmondson, A. (1999). Psychological safety and learning behavior in work teams. Administrative Science Quarterly, 44(2).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Hall, E. T. (1976). Beyond Culture. Anchor Books.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Hersey, P. y Blanchard, K. (1969). Management of Organizational Behavior. Prentice Hall.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Hofstede, G., Hofstede, G. J. y Minkov, M. (2010). Cultures and Organizations: Software of the Mind (3.ª ed.). McGraw-Hill.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House, R. J., Hanges, P. J., Javidan, M., Dorfman, P. W. y Gupta, V. (2004). Culture, Leadership, and Organizations: The GLOBE Study of 62 Societies. Sage.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Javidan, M., Stahl, G. K. y House, R. J. (2004). Leadership in a global organization: a cross-cultural perspective. En The INSEAD-Wharton Alliance on Globalizing. Cambridge University Press.</a:t>
            </a:r>
            <a:endParaRPr lang="en-US" sz="1000" dirty="0"/>
          </a:p>
        </p:txBody>
      </p:sp>
      <p:sp>
        <p:nvSpPr>
          <p:cNvPr id="6" name="t261"/>
          <p:cNvSpPr txBox="1"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Lencioni, P. (2002). The Five Dysfunctions of a Team. Jossey-Bass.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R. D. (1996). When Cultures Collide. Nicholas Brealey.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27.555 (2020). Régimen Legal del Contrato de Teletrabajo. República Argentina.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Martínez, P. G. (2005). Paternalism as a positive form of leadership in the Latin American context. En Managing Human Resources in Latin America (pp. 75–93). Routledge.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Nino, C. S. (1992). Un país al margen de la ley. Emecé.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O'Donnell, G. (1984). ¿Y a mí, qué mierda me importa? Notas sobre sociabilidad y política en Argentina y Brasil. CEDES.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Petit, L., González, E., Sánchez, P. I. y Bershadsky, R. (2008). La encarnación del paternalismo en la figura del presidencialismo argentino. XV Jornadas de Investigación, Facultad de Psicología, UBA.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Scott, K. (2017). Radical Candor. St. Martin's Press.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Trompenaars, F. y Hampden-Turner, C. (1997). Riding the Waves of Culture (2.ª ed.). Nicholas Brealey.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la Diplomatura (2026): El rol del líder; Liderazgo situacional; Confianza y Compromiso; Comunicación.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 vs EEUU">
  <a:themeElements>
    <a:clrScheme name="AR vs EEUU">
      <a:dk1>
        <a:srgbClr val="1B2A41"/>
      </a:dk1>
      <a:lt1>
        <a:srgbClr val="FFFFFF"/>
      </a:lt1>
      <a:dk2>
        <a:srgbClr val="0F1B2D"/>
      </a:dk2>
      <a:lt2>
        <a:srgbClr val="EEF3F8"/>
      </a:lt2>
      <a:accent1>
        <a:srgbClr val="2F78B7"/>
      </a:accent1>
      <a:accent2>
        <a:srgbClr val="B22234"/>
      </a:accent2>
      <a:accent3>
        <a:srgbClr val="E0A100"/>
      </a:accent3>
      <a:accent4>
        <a:srgbClr val="5B6B7F"/>
      </a:accent4>
      <a:accent5>
        <a:srgbClr val="75AADB"/>
      </a:accent5>
      <a:accent6>
        <a:srgbClr val="2E8B57"/>
      </a:accent6>
      <a:hlink>
        <a:srgbClr val="2F78B7"/>
      </a:hlink>
      <a:folHlink>
        <a:srgbClr val="5B6B7F"/>
      </a:folHlink>
    </a:clrScheme>
    <a:fontScheme name="AR vs EEU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2514</Words>
  <Application>Microsoft Office PowerPoint</Application>
  <PresentationFormat>On-screen Show (16:9)</PresentationFormat>
  <Paragraphs>340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AR vs EEUU</vt:lpstr>
      <vt:lpstr>¿Liderar al estilo argentino o al estilo estadounidense?</vt:lpstr>
      <vt:lpstr>Cómo funciona el debate</vt:lpstr>
      <vt:lpstr>Lente 1: las dimensiones de Hofstede</vt:lpstr>
      <vt:lpstr>Lente 2: qué liderazgo valora cada región (GLOBE)</vt:lpstr>
      <vt:lpstr>Lente 3: Hall, Trompenaars y Lewis</vt:lpstr>
      <vt:lpstr>Liderar al estilo argentino</vt:lpstr>
      <vt:lpstr>Los cuatro pilares del estilo argentino</vt:lpstr>
      <vt:lpstr>Paternalismo positivo: un intercambio</vt:lpstr>
      <vt:lpstr>El estilo argentino en acción</vt:lpstr>
      <vt:lpstr>Agregado: el estilo argentino a distancia</vt:lpstr>
      <vt:lpstr>Liderar al estilo estadounidense</vt:lpstr>
      <vt:lpstr>Los cuatro pilares del estilo estadounidense</vt:lpstr>
      <vt:lpstr>Las herramientas del estilo estadounidense</vt:lpstr>
      <vt:lpstr>El estilo estadounidense en acción</vt:lpstr>
      <vt:lpstr>Agregado: el estilo estadounidense a distancia</vt:lpstr>
      <vt:lpstr>Réplica: el lado oscuro de cada estilo</vt:lpstr>
      <vt:lpstr>Caso común: cancelar un proyecto</vt:lpstr>
      <vt:lpstr>Votación: ¿qué estilo gana?</vt:lpstr>
      <vt:lpstr>Conclusión: no gana un estilo, gana el repertorio</vt:lpstr>
      <vt:lpstr>Fuentes utilizadas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Debate: estilo argentino vs. estilo estadounidense</dc:title>
  <dc:subject>PptxGenJS Presentation</dc:subject>
  <dc:creator>Grupo de trabajo final</dc:creator>
  <cp:lastModifiedBy>Facu Barrionuevo</cp:lastModifiedBy>
  <cp:revision>10</cp:revision>
  <dcterms:created xsi:type="dcterms:W3CDTF">2026-10-21T13:28:43Z</dcterms:created>
  <dcterms:modified xsi:type="dcterms:W3CDTF">2026-10-27T15:42:54Z</dcterms:modified>
</cp:coreProperties>
</file>